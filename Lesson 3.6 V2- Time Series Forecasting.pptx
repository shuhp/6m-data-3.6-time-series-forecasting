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Light" panose="020B0606030504020204" pitchFamily="34" charset="0"/>
      <p:regular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1"/>
  </p:normalViewPr>
  <p:slideViewPr>
    <p:cSldViewPr snapToGrid="0">
      <p:cViewPr varScale="1">
        <p:scale>
          <a:sx n="149" d="100"/>
          <a:sy n="149" d="100"/>
        </p:scale>
        <p:origin x="208" y="7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ee1b79450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73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g3ee1b79450e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51" name="Google Shape;51;g3ee1b79450e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e1b79450e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ee1b79450e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81" y="685800"/>
            <a:ext cx="609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e1b79450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81" y="685800"/>
            <a:ext cx="609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e1b79450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3ee1b79450e_0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Lesson 6 — Time Series Forecasting. Marcus's question from L05 — 'forecast next quarter's revenue?' — is this week's brief. Three methods: STL decomposition, ETS, ML-with-lags. ~90 min slides + ~90 min hands-on.</a:t>
            </a:r>
            <a:endParaRPr/>
          </a:p>
        </p:txBody>
      </p:sp>
      <p:sp>
        <p:nvSpPr>
          <p:cNvPr id="75" name="Google Shape;7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recap. End of L05, Marcus asked about forecasting. The new question: time-ordered data. This breaks every assumption from L01-L05.</a:t>
            </a:r>
            <a:endParaRPr/>
          </a:p>
        </p:txBody>
      </p:sp>
      <p:sp>
        <p:nvSpPr>
          <p:cNvPr id="87" name="Google Shape;87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Friday morning. Three deliverables for Marcus: the decomposition chart, the comparison table, and the 90-day forecast.</a:t>
            </a:r>
            <a:endParaRPr/>
          </a:p>
        </p:txBody>
      </p:sp>
      <p:sp>
        <p:nvSpPr>
          <p:cNvPr id="407" name="Google Shape;407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Numerical results learners will see across the in-class notebooks.</a:t>
            </a:r>
            <a:endParaRPr/>
          </a:p>
        </p:txBody>
      </p:sp>
      <p:sp>
        <p:nvSpPr>
          <p:cNvPr id="656" name="Google Shape;656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time series is the sum of three components: trend, seasonality, and residual (noise). Different components have different shapes, scales, predictability. Separating them is step 0 of forecasting.</a:t>
            </a: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NorthStar daily revenue data: 2 years (731 days), mean £9,700/day. Three patterns visible to the eye: upward trend, weekly cycle, Q4 holiday spike. Multi-seasonal.</a:t>
            </a:r>
            <a:endParaRPr/>
          </a:p>
        </p:txBody>
      </p:sp>
      <p:sp>
        <p:nvSpPr>
          <p:cNvPr id="136" name="Google Shape;13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STL — Seasonal-Trend decomposition using Loess. Robust to outliers, allows seasonal pattern to evolve slowly. Give it the data and the seasonal period; get back trend + seasonal + residual.</a:t>
            </a:r>
            <a:endParaRPr/>
          </a:p>
        </p:txBody>
      </p:sp>
      <p:sp>
        <p:nvSpPr>
          <p:cNvPr id="162" name="Google Shape;16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rule of time-series cross-validation: train always BEFORE test. TimeSeriesSplit gives 5 windows that roll forward through the data. K-fold is FORBIDDEN — it would leak future data.</a:t>
            </a:r>
            <a:endParaRPr/>
          </a:p>
        </p:txBody>
      </p:sp>
      <p:sp>
        <p:nvSpPr>
          <p:cNvPr id="178" name="Google Shape;17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Code-along on 02_decomposition.ipynb: 30 min, Core only, stop at the 🟡 marker.</a:t>
            </a:r>
            <a:endParaRPr/>
          </a:p>
        </p:txBody>
      </p:sp>
      <p:sp>
        <p:nvSpPr>
          <p:cNvPr id="215" name="Google Shape;21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classical methods you should know. Naive is the baseline floor. Seasonal Naive captures one seasonality. ETS is the pragmatic adaptive baseline that handles trend + one seasonality.</a:t>
            </a:r>
            <a:endParaRPr/>
          </a:p>
        </p:txBody>
      </p:sp>
      <p:sp>
        <p:nvSpPr>
          <p:cNvPr id="231" name="Google Shape;23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ETS — Error, Trend, Seasonality. Three flavours depending on which components are modelled. The three letters tell you what's modelled. Default for our NorthStar data: additive trend + additive weekly seasonality.</a:t>
            </a:r>
            <a:endParaRPr/>
          </a:p>
        </p:txBody>
      </p:sp>
      <p:sp>
        <p:nvSpPr>
          <p:cNvPr id="258" name="Google Shape;258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standard forecast-error metrics. MAE is intuitive. RMSE penalises large errors more. MAPE is scale-free percentage. Report at least MAE + MAPE for business communication.</a:t>
            </a:r>
            <a:endParaRPr/>
          </a:p>
        </p:txBody>
      </p:sp>
      <p:sp>
        <p:nvSpPr>
          <p:cNvPr id="279" name="Google Shape;27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Code-along on 03_classical_forecasting.ipynb: 30 min, Core only, stop at the 🟡 marker.</a:t>
            </a:r>
            <a:endParaRPr/>
          </a:p>
        </p:txBody>
      </p:sp>
      <p:sp>
        <p:nvSpPr>
          <p:cNvPr id="303" name="Google Shape;303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modern industry default: turn the time series into a TABULAR REGRESSION PROBLEM by adding lag features. Then use gradient boosting — the same algorithm from L04.</a:t>
            </a:r>
            <a:endParaRPr/>
          </a:p>
        </p:txBody>
      </p:sp>
      <p:sp>
        <p:nvSpPr>
          <p:cNvPr id="319" name="Google Shape;319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3" name="Google Shape;363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the features + training the model — the code is short. Drop NaN rows (first 365 days because of lag_365), split by date, fit gradient boosting.</a:t>
            </a:r>
            <a:endParaRPr/>
          </a:p>
        </p:txBody>
      </p:sp>
      <p:sp>
        <p:nvSpPr>
          <p:cNvPr id="364" name="Google Shape;364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ways to forecast multi-step. Recursive: predict t+1, plug into lag for t+2, repeat. Errors compound. Direct: train separate models for each horizon. More work, more stable. Choose based on horizon length.</a:t>
            </a:r>
            <a:endParaRPr/>
          </a:p>
        </p:txBody>
      </p:sp>
      <p:sp>
        <p:nvSpPr>
          <p:cNvPr id="374" name="Google Shape;37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Code-along on 04_ml_forecasting.ipynb: 30 min, Core only, stop at the 🟡 marker.</a:t>
            </a:r>
            <a:endParaRPr/>
          </a:p>
        </p:txBody>
      </p:sp>
      <p:sp>
        <p:nvSpPr>
          <p:cNvPr id="391" name="Google Shape;391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8" name="Google Shape;718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Permutation importance from the ML-with-lags forecaster — which features actually drive the prediction.</a:t>
            </a:r>
            <a:endParaRPr/>
          </a:p>
        </p:txBody>
      </p:sp>
      <p:sp>
        <p:nvSpPr>
          <p:cNvPr id="719" name="Google Shape;719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big lessons from this week.</a:t>
            </a:r>
            <a:endParaRPr/>
          </a:p>
        </p:txBody>
      </p:sp>
      <p:sp>
        <p:nvSpPr>
          <p:cNvPr id="497" name="Google Shape;497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0" name="Google Shape;520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comparison of all the forecasting tools we've seen.</a:t>
            </a:r>
            <a:endParaRPr/>
          </a:p>
        </p:txBody>
      </p:sp>
      <p:sp>
        <p:nvSpPr>
          <p:cNvPr id="521" name="Google Shape;521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reference card you can keep open while working.</a:t>
            </a:r>
            <a:endParaRPr/>
          </a:p>
        </p:txBody>
      </p:sp>
      <p:sp>
        <p:nvSpPr>
          <p:cNvPr id="637" name="Google Shape;637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9" name="Google Shape;599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Time-series forecasting is everywhere in industry.</a:t>
            </a:r>
            <a:endParaRPr/>
          </a:p>
        </p:txBody>
      </p:sp>
      <p:sp>
        <p:nvSpPr>
          <p:cNvPr id="600" name="Google Shape;600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4" name="Google Shape;694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forecasting arc beyond L06.</a:t>
            </a:r>
            <a:endParaRPr/>
          </a:p>
        </p:txBody>
      </p:sp>
      <p:sp>
        <p:nvSpPr>
          <p:cNvPr id="695" name="Google Shape;695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Sarah's journey to date.</a:t>
            </a:r>
            <a:endParaRPr/>
          </a:p>
        </p:txBody>
      </p:sp>
      <p:sp>
        <p:nvSpPr>
          <p:cNvPr id="570" name="Google Shape;570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assignment parts. Part A: UK electricity demand (strong multi-seasonality). Part B: coffee-shop daily customers (smaller, noisier).</a:t>
            </a:r>
            <a:endParaRPr/>
          </a:p>
        </p:txBody>
      </p:sp>
      <p:sp>
        <p:nvSpPr>
          <p:cNvPr id="448" name="Google Shape;448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up + Q&amp;A.</a:t>
            </a:r>
            <a:endParaRPr/>
          </a:p>
        </p:txBody>
      </p:sp>
      <p:sp>
        <p:nvSpPr>
          <p:cNvPr id="473" name="Google Shape;473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Marcus's new question — 'predict checkout completion from sequential customer behaviour?' — is the engine of L07. Neural networks. Different mental model: end-to-end learning from raw sequences.</a:t>
            </a:r>
            <a:endParaRPr/>
          </a:p>
        </p:txBody>
      </p:sp>
      <p:sp>
        <p:nvSpPr>
          <p:cNvPr id="433" name="Google Shape;433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" name="Google Shape;754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L07 next — neural networks.</a:t>
            </a:r>
            <a:endParaRPr/>
          </a:p>
        </p:txBody>
      </p:sp>
      <p:sp>
        <p:nvSpPr>
          <p:cNvPr id="755" name="Google Shape;755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lvl="1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marL="1371600" lvl="2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marL="2286000" lvl="4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marL="2743200" lvl="5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/3 Content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4255500" cy="6570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69357" y="458767"/>
            <a:ext cx="3886200" cy="1218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272659" y="1897800"/>
            <a:ext cx="3982800" cy="443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 b="1">
                <a:solidFill>
                  <a:schemeClr val="lt1"/>
                </a:solidFill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461081" y="550100"/>
            <a:ext cx="7383000" cy="589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2/3 Content">
  <p:cSld name="CUSTOM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4437248" y="197167"/>
            <a:ext cx="74022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sz="4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28" name="Google Shape;28;p6"/>
          <p:cNvSpPr>
            <a:spLocks noGrp="1"/>
          </p:cNvSpPr>
          <p:nvPr>
            <p:ph type="pic" idx="2"/>
          </p:nvPr>
        </p:nvSpPr>
        <p:spPr>
          <a:xfrm>
            <a:off x="0" y="0"/>
            <a:ext cx="4084200" cy="655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437315" y="1300800"/>
            <a:ext cx="7402200" cy="504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130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ght 2/3 Content">
  <p:cSld name="CUSTOM_1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>
            <a:spLocks noGrp="1"/>
          </p:cNvSpPr>
          <p:nvPr>
            <p:ph type="pic" idx="2"/>
          </p:nvPr>
        </p:nvSpPr>
        <p:spPr>
          <a:xfrm>
            <a:off x="8107384" y="0"/>
            <a:ext cx="4084200" cy="65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502053" y="1341900"/>
            <a:ext cx="7163700" cy="519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sz="4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 Content">
  <p:cSld name="CUSTOM_2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609584" y="1167100"/>
            <a:ext cx="4803000" cy="475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2"/>
          </p:nvPr>
        </p:nvSpPr>
        <p:spPr>
          <a:xfrm>
            <a:off x="6653156" y="1167100"/>
            <a:ext cx="4929000" cy="491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8"/>
          <p:cNvCxnSpPr/>
          <p:nvPr/>
        </p:nvCxnSpPr>
        <p:spPr>
          <a:xfrm>
            <a:off x="6095838" y="1403100"/>
            <a:ext cx="0" cy="4521300"/>
          </a:xfrm>
          <a:prstGeom prst="straightConnector1">
            <a:avLst/>
          </a:prstGeom>
          <a:noFill/>
          <a:ln w="12700" cap="flat" cmpd="sng">
            <a:solidFill>
              <a:srgbClr val="C51A4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ctrTitle"/>
          </p:nvPr>
        </p:nvSpPr>
        <p:spPr>
          <a:xfrm>
            <a:off x="914376" y="2130425"/>
            <a:ext cx="103629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1828751" y="3886200"/>
            <a:ext cx="8534100" cy="17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00"/>
              </a:spcBef>
              <a:spcAft>
                <a:spcPts val="13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0642679" y="6515076"/>
            <a:ext cx="939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0" anchor="t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1275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marL="1371600" lvl="2" indent="-40005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3810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marL="2286000" lvl="4" indent="-36195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marL="2743200" lvl="5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5940575" y="606904"/>
            <a:ext cx="310500" cy="121917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sz="400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sz="32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4127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–"/>
              <a:defRPr sz="2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4000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Char char="•"/>
              <a:defRPr sz="27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sz="24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619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»"/>
              <a:defRPr sz="21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Font typeface="Open Sans"/>
              <a:buChar char="•"/>
              <a:defRPr sz="19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30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632103" y="6584067"/>
            <a:ext cx="3559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US" sz="800">
                <a:solidFill>
                  <a:srgbClr val="FFFFFF"/>
                </a:solidFill>
              </a:rPr>
              <a:t>6</a:t>
            </a:r>
            <a:r>
              <a:rPr lang="en-US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Nanyang Technological University. All rights reserved.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2" descr="A building with a balcony and tre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33271"/>
          <a:stretch/>
        </p:blipFill>
        <p:spPr>
          <a:xfrm>
            <a:off x="6172156" y="0"/>
            <a:ext cx="609584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172155" y="5785658"/>
            <a:ext cx="6095700" cy="10725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5785658"/>
            <a:ext cx="6172200" cy="10725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457200" cy="6858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753947" y="2199834"/>
            <a:ext cx="4842300" cy="13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4000"/>
              <a:buFont typeface="Open Sans Light"/>
              <a:buNone/>
            </a:pPr>
            <a:r>
              <a:rPr lang="en-US" sz="32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3200"/>
          </a:p>
        </p:txBody>
      </p:sp>
      <p:sp>
        <p:nvSpPr>
          <p:cNvPr id="58" name="Google Shape;58;p12"/>
          <p:cNvSpPr txBox="1"/>
          <p:nvPr/>
        </p:nvSpPr>
        <p:spPr>
          <a:xfrm>
            <a:off x="750001" y="3429000"/>
            <a:ext cx="5189700" cy="8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rPr lang="en-US" sz="3200" b="1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sz="3200" b="1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t="30759" b="33662"/>
          <a:stretch/>
        </p:blipFill>
        <p:spPr>
          <a:xfrm>
            <a:off x="457188" y="0"/>
            <a:ext cx="5684722" cy="1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799579" y="2882000"/>
            <a:ext cx="1059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>
                <a:solidFill>
                  <a:schemeClr val="lt1"/>
                </a:solidFill>
              </a:rPr>
              <a:t>3.</a:t>
            </a:r>
            <a:r>
              <a:rPr lang="en-US" b="1">
                <a:solidFill>
                  <a:schemeClr val="lt1"/>
                </a:solidFill>
              </a:rPr>
              <a:t>5</a:t>
            </a:r>
            <a:r>
              <a:rPr lang="en-US" sz="4000" b="1">
                <a:solidFill>
                  <a:schemeClr val="lt1"/>
                </a:solidFill>
              </a:rPr>
              <a:t> Un</a:t>
            </a:r>
            <a:r>
              <a:rPr lang="en-US" b="1">
                <a:solidFill>
                  <a:schemeClr val="lt1"/>
                </a:solidFill>
              </a:rPr>
              <a:t>supervised Learning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Module Overview</a:t>
            </a:r>
            <a:endParaRPr sz="4800"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3.1 Introduction to Machine Learning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3.2 Probability and Statistics for Machine Learning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3.3 Supervised Learning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3.4 Supervised Learning - Advanced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3.5 Unsupervised Learning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>
                <a:highlight>
                  <a:srgbClr val="FFFF00"/>
                </a:highlight>
              </a:rPr>
              <a:t>3.6 Time Series Data &amp; Forecasting</a:t>
            </a:r>
            <a:endParaRPr sz="190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3.7 Neural Network &amp; Deep Learning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3.8 Computer Vision (CV)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3.9 Natural Language Processing (NLP)</a:t>
            </a:r>
            <a:endParaRPr sz="1900"/>
          </a:p>
          <a:p>
            <a:pPr marL="0" lvl="0" indent="0" algn="l" rtl="0"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3.10 Transformers, Attention &amp; GenAI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NANYANG TECHNOLOGICAL UNIVERSITY  ·  (SCTP) ADVANCED PROFESSIONAL CERTIFICATE</a:t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700"/>
              <a:buFont typeface="Open Sans"/>
              <a:buNone/>
            </a:pPr>
            <a:r>
              <a:rPr lang="en-US" sz="17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Module 3  ·  Machine Learning &amp; GenAI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7200"/>
              <a:buFont typeface="Open Sans"/>
              <a:buNone/>
            </a:pPr>
            <a:r>
              <a:rPr lang="en-US" sz="7200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L06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Open Sans"/>
              <a:buNone/>
            </a:pPr>
            <a: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Time Series</a:t>
            </a:r>
            <a:b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70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Forecasting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en-US" sz="2200" i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Sarah's week of forecasting NorthStar revenue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"/>
              <a:buNone/>
            </a:pPr>
            <a:r>
              <a:rPr lang="en-US" sz="1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Format:  ~90 min slides  ·  ~90 min hands-on  ·  self-paced extensions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Where We Left Off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L05 → L06 — from cross-sectional to time-ordered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48640" y="173736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end of L05: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822960" y="228600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"Sales are SEASONAL. We need to know quarterly revenue 90 days ahead so ops can plan inventory.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 you forecast?"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548640" y="356616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The fundamental shift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640080" y="411480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📅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1188720" y="411480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Data is TIME-ORDERED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4572000" y="411480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Order matters. Today's value depends on yesterday's.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40080" y="461772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🔮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1188720" y="461772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future hasn't happened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4572000" y="461772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Never use data from after the prediction date.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640080" y="512064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🚫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1188720" y="512064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k-fold cross-val is FORBIDDEN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0" y="512064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Would leak the future into past training folds.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640080" y="5623560"/>
            <a:ext cx="54864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📈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1188720" y="562356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New toolkit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4572000" y="5623560"/>
            <a:ext cx="70408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Decomposition, ETS, lag features — time-aware methods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3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Friday — Sarah's Deliverables</a:t>
            </a:r>
            <a:endParaRPr/>
          </a:p>
        </p:txBody>
      </p:sp>
      <p:sp>
        <p:nvSpPr>
          <p:cNvPr id="412" name="Google Shape;412;p30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lands on Marcus's desk</a:t>
            </a:r>
            <a:endParaRPr/>
          </a:p>
        </p:txBody>
      </p:sp>
      <p:sp>
        <p:nvSpPr>
          <p:cNvPr id="413" name="Google Shape;413;p30"/>
          <p:cNvSpPr/>
          <p:nvPr/>
        </p:nvSpPr>
        <p:spPr>
          <a:xfrm>
            <a:off x="548640" y="1783080"/>
            <a:ext cx="73152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30"/>
          <p:cNvSpPr txBox="1"/>
          <p:nvPr/>
        </p:nvSpPr>
        <p:spPr>
          <a:xfrm>
            <a:off x="548640" y="205740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415" name="Google Shape;415;p30"/>
          <p:cNvSpPr/>
          <p:nvPr/>
        </p:nvSpPr>
        <p:spPr>
          <a:xfrm>
            <a:off x="1417320" y="178308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30"/>
          <p:cNvSpPr txBox="1"/>
          <p:nvPr/>
        </p:nvSpPr>
        <p:spPr>
          <a:xfrm>
            <a:off x="1645920" y="19202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Decomposition chart</a:t>
            </a:r>
            <a:endParaRPr/>
          </a:p>
        </p:txBody>
      </p:sp>
      <p:sp>
        <p:nvSpPr>
          <p:cNvPr id="417" name="Google Shape;417;p30"/>
          <p:cNvSpPr txBox="1"/>
          <p:nvPr/>
        </p:nvSpPr>
        <p:spPr>
          <a:xfrm>
            <a:off x="1645920" y="23774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Trend (slow growth + annual cycle) + Weekly seasonality + Residual (noise)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Visible structure that summarises what's predictable vs random.</a:t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548640" y="3200400"/>
            <a:ext cx="73152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548640" y="347472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1417320" y="320040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p30"/>
          <p:cNvSpPr txBox="1"/>
          <p:nvPr/>
        </p:nvSpPr>
        <p:spPr>
          <a:xfrm>
            <a:off x="1645920" y="333756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Method comparison table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1645920" y="379476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Naive · Seasonal Naive · ETS-weekly · ML-with-lags on the same test window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With MAE, RMSE, and MAPE per method.</a:t>
            </a:r>
            <a:endParaRPr/>
          </a:p>
        </p:txBody>
      </p:sp>
      <p:sp>
        <p:nvSpPr>
          <p:cNvPr id="423" name="Google Shape;423;p30"/>
          <p:cNvSpPr/>
          <p:nvPr/>
        </p:nvSpPr>
        <p:spPr>
          <a:xfrm>
            <a:off x="548640" y="4617720"/>
            <a:ext cx="73152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p30"/>
          <p:cNvSpPr txBox="1"/>
          <p:nvPr/>
        </p:nvSpPr>
        <p:spPr>
          <a:xfrm>
            <a:off x="548640" y="489204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425" name="Google Shape;425;p30"/>
          <p:cNvSpPr/>
          <p:nvPr/>
        </p:nvSpPr>
        <p:spPr>
          <a:xfrm>
            <a:off x="1417320" y="461772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1645920" y="475488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90-day forecast for Q1 2026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1645920" y="52120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the chosen method (ETS-weekly; ETS and ML tie on CV), retrained on full data.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With a 90% prediction interval.</a:t>
            </a:r>
            <a:endParaRPr/>
          </a:p>
        </p:txBody>
      </p:sp>
      <p:sp>
        <p:nvSpPr>
          <p:cNvPr id="428" name="Google Shape;428;p30"/>
          <p:cNvSpPr/>
          <p:nvPr/>
        </p:nvSpPr>
        <p:spPr>
          <a:xfrm>
            <a:off x="548640" y="6126480"/>
            <a:ext cx="11064240" cy="4315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9" name="Google Shape;429;p30"/>
          <p:cNvSpPr txBox="1"/>
          <p:nvPr/>
        </p:nvSpPr>
        <p:spPr>
          <a:xfrm>
            <a:off x="822960" y="6172200"/>
            <a:ext cx="105156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9" name="Google Shape;659;p3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0" name="Google Shape;660;p3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Sarah Delivered — The Numbers</a:t>
            </a:r>
            <a:endParaRPr/>
          </a:p>
        </p:txBody>
      </p:sp>
      <p:sp>
        <p:nvSpPr>
          <p:cNvPr id="661" name="Google Shape;661;p39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Marcus asked for Q1 revenue 90 days ahead, for inventory — a typical day ≈ £9,700</a:t>
            </a:r>
            <a:endParaRPr/>
          </a:p>
        </p:txBody>
      </p:sp>
      <p:sp>
        <p:nvSpPr>
          <p:cNvPr id="662" name="Google Shape;662;p39"/>
          <p:cNvSpPr/>
          <p:nvPr/>
        </p:nvSpPr>
        <p:spPr>
          <a:xfrm>
            <a:off x="548640" y="1783080"/>
            <a:ext cx="365760" cy="73371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39"/>
          <p:cNvSpPr/>
          <p:nvPr/>
        </p:nvSpPr>
        <p:spPr>
          <a:xfrm>
            <a:off x="960120" y="1783080"/>
            <a:ext cx="10698480" cy="73371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39"/>
          <p:cNvSpPr txBox="1"/>
          <p:nvPr/>
        </p:nvSpPr>
        <p:spPr>
          <a:xfrm>
            <a:off x="1043441" y="1964680"/>
            <a:ext cx="5943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Found the hidden pattern</a:t>
            </a:r>
            <a:endParaRPr dirty="0"/>
          </a:p>
        </p:txBody>
      </p:sp>
      <p:sp>
        <p:nvSpPr>
          <p:cNvPr id="665" name="Google Shape;665;p39"/>
          <p:cNvSpPr txBox="1"/>
          <p:nvPr/>
        </p:nvSpPr>
        <p:spPr>
          <a:xfrm>
            <a:off x="5768410" y="1991207"/>
            <a:ext cx="415325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Split revenue into trend + weekly rhythm + noise</a:t>
            </a:r>
            <a:endParaRPr dirty="0"/>
          </a:p>
        </p:txBody>
      </p:sp>
      <p:sp>
        <p:nvSpPr>
          <p:cNvPr id="666" name="Google Shape;666;p39"/>
          <p:cNvSpPr txBox="1"/>
          <p:nvPr/>
        </p:nvSpPr>
        <p:spPr>
          <a:xfrm>
            <a:off x="10332720" y="1947672"/>
            <a:ext cx="1371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NB 02</a:t>
            </a:r>
            <a:endParaRPr/>
          </a:p>
        </p:txBody>
      </p:sp>
      <p:sp>
        <p:nvSpPr>
          <p:cNvPr id="667" name="Google Shape;667;p39"/>
          <p:cNvSpPr/>
          <p:nvPr/>
        </p:nvSpPr>
        <p:spPr>
          <a:xfrm>
            <a:off x="548640" y="2496312"/>
            <a:ext cx="365760" cy="73371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960120" y="2496312"/>
            <a:ext cx="10698480" cy="73371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9" name="Google Shape;669;p39"/>
          <p:cNvSpPr txBox="1"/>
          <p:nvPr/>
        </p:nvSpPr>
        <p:spPr>
          <a:xfrm>
            <a:off x="1043441" y="2677912"/>
            <a:ext cx="5943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Simple "same as last week" guess</a:t>
            </a:r>
            <a:endParaRPr dirty="0"/>
          </a:p>
        </p:txBody>
      </p:sp>
      <p:sp>
        <p:nvSpPr>
          <p:cNvPr id="670" name="Google Shape;670;p39"/>
          <p:cNvSpPr txBox="1"/>
          <p:nvPr/>
        </p:nvSpPr>
        <p:spPr>
          <a:xfrm>
            <a:off x="5768410" y="2668522"/>
            <a:ext cx="41532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Off by ~£2,400 on a typical day</a:t>
            </a:r>
            <a:endParaRPr dirty="0"/>
          </a:p>
        </p:txBody>
      </p:sp>
      <p:sp>
        <p:nvSpPr>
          <p:cNvPr id="671" name="Google Shape;671;p39"/>
          <p:cNvSpPr txBox="1"/>
          <p:nvPr/>
        </p:nvSpPr>
        <p:spPr>
          <a:xfrm>
            <a:off x="10332720" y="2660904"/>
            <a:ext cx="1371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NB 02</a:t>
            </a:r>
            <a:endParaRPr/>
          </a:p>
        </p:txBody>
      </p:sp>
      <p:sp>
        <p:nvSpPr>
          <p:cNvPr id="672" name="Google Shape;672;p39"/>
          <p:cNvSpPr/>
          <p:nvPr/>
        </p:nvSpPr>
        <p:spPr>
          <a:xfrm>
            <a:off x="548640" y="3209544"/>
            <a:ext cx="365760" cy="73371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3" name="Google Shape;673;p39"/>
          <p:cNvSpPr/>
          <p:nvPr/>
        </p:nvSpPr>
        <p:spPr>
          <a:xfrm>
            <a:off x="960120" y="3209544"/>
            <a:ext cx="10698480" cy="73371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4" name="Google Shape;674;p39"/>
          <p:cNvSpPr txBox="1"/>
          <p:nvPr/>
        </p:nvSpPr>
        <p:spPr>
          <a:xfrm>
            <a:off x="1043441" y="3391144"/>
            <a:ext cx="5943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 smarter classic forecast</a:t>
            </a:r>
            <a:endParaRPr dirty="0"/>
          </a:p>
        </p:txBody>
      </p:sp>
      <p:sp>
        <p:nvSpPr>
          <p:cNvPr id="675" name="Google Shape;675;p39"/>
          <p:cNvSpPr txBox="1"/>
          <p:nvPr/>
        </p:nvSpPr>
        <p:spPr>
          <a:xfrm>
            <a:off x="5768411" y="3381754"/>
            <a:ext cx="415325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Off by ~£2,250 on a typical day</a:t>
            </a:r>
            <a:endParaRPr dirty="0"/>
          </a:p>
        </p:txBody>
      </p:sp>
      <p:sp>
        <p:nvSpPr>
          <p:cNvPr id="676" name="Google Shape;676;p39"/>
          <p:cNvSpPr txBox="1"/>
          <p:nvPr/>
        </p:nvSpPr>
        <p:spPr>
          <a:xfrm>
            <a:off x="10332720" y="3374136"/>
            <a:ext cx="1371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NB 03</a:t>
            </a:r>
            <a:endParaRPr/>
          </a:p>
        </p:txBody>
      </p:sp>
      <p:sp>
        <p:nvSpPr>
          <p:cNvPr id="677" name="Google Shape;677;p39"/>
          <p:cNvSpPr/>
          <p:nvPr/>
        </p:nvSpPr>
        <p:spPr>
          <a:xfrm>
            <a:off x="548640" y="3922776"/>
            <a:ext cx="365760" cy="73371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8" name="Google Shape;678;p39"/>
          <p:cNvSpPr/>
          <p:nvPr/>
        </p:nvSpPr>
        <p:spPr>
          <a:xfrm>
            <a:off x="960120" y="3922776"/>
            <a:ext cx="10698480" cy="73371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1043441" y="4112691"/>
            <a:ext cx="5943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Machine-learning, next-day</a:t>
            </a:r>
            <a:endParaRPr dirty="0"/>
          </a:p>
        </p:txBody>
      </p:sp>
      <p:sp>
        <p:nvSpPr>
          <p:cNvPr id="680" name="Google Shape;680;p39"/>
          <p:cNvSpPr txBox="1"/>
          <p:nvPr/>
        </p:nvSpPr>
        <p:spPr>
          <a:xfrm>
            <a:off x="5768411" y="4087368"/>
            <a:ext cx="415325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Off by only ~£1,400 — the most accurate</a:t>
            </a:r>
            <a:endParaRPr dirty="0"/>
          </a:p>
        </p:txBody>
      </p:sp>
      <p:sp>
        <p:nvSpPr>
          <p:cNvPr id="681" name="Google Shape;681;p39"/>
          <p:cNvSpPr txBox="1"/>
          <p:nvPr/>
        </p:nvSpPr>
        <p:spPr>
          <a:xfrm>
            <a:off x="10332720" y="4087368"/>
            <a:ext cx="1371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NB 04</a:t>
            </a:r>
            <a:endParaRPr/>
          </a:p>
        </p:txBody>
      </p:sp>
      <p:sp>
        <p:nvSpPr>
          <p:cNvPr id="682" name="Google Shape;682;p39"/>
          <p:cNvSpPr/>
          <p:nvPr/>
        </p:nvSpPr>
        <p:spPr>
          <a:xfrm>
            <a:off x="548640" y="4636008"/>
            <a:ext cx="365760" cy="73371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960120" y="4636008"/>
            <a:ext cx="10698480" cy="73371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043441" y="4800600"/>
            <a:ext cx="5943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Tested fairly across many periods</a:t>
            </a:r>
            <a:endParaRPr dirty="0"/>
          </a:p>
        </p:txBody>
      </p:sp>
      <p:sp>
        <p:nvSpPr>
          <p:cNvPr id="685" name="Google Shape;685;p39"/>
          <p:cNvSpPr txBox="1"/>
          <p:nvPr/>
        </p:nvSpPr>
        <p:spPr>
          <a:xfrm>
            <a:off x="5768411" y="4800600"/>
            <a:ext cx="428998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All good methods land within ~£1,500/day — far better than guessing</a:t>
            </a:r>
            <a:endParaRPr dirty="0"/>
          </a:p>
        </p:txBody>
      </p:sp>
      <p:sp>
        <p:nvSpPr>
          <p:cNvPr id="686" name="Google Shape;686;p39"/>
          <p:cNvSpPr txBox="1"/>
          <p:nvPr/>
        </p:nvSpPr>
        <p:spPr>
          <a:xfrm>
            <a:off x="10332720" y="4800600"/>
            <a:ext cx="1371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NB 04 Ext</a:t>
            </a:r>
            <a:endParaRPr/>
          </a:p>
        </p:txBody>
      </p:sp>
      <p:sp>
        <p:nvSpPr>
          <p:cNvPr id="687" name="Google Shape;687;p39"/>
          <p:cNvSpPr/>
          <p:nvPr/>
        </p:nvSpPr>
        <p:spPr>
          <a:xfrm>
            <a:off x="548640" y="5349240"/>
            <a:ext cx="365760" cy="73371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8" name="Google Shape;688;p39"/>
          <p:cNvSpPr/>
          <p:nvPr/>
        </p:nvSpPr>
        <p:spPr>
          <a:xfrm>
            <a:off x="960120" y="5349240"/>
            <a:ext cx="10698480" cy="73371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9" name="Google Shape;689;p39"/>
          <p:cNvSpPr txBox="1"/>
          <p:nvPr/>
        </p:nvSpPr>
        <p:spPr>
          <a:xfrm>
            <a:off x="1043441" y="5529926"/>
            <a:ext cx="5943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answer: Q1 2026 revenue, 90 days ahead</a:t>
            </a:r>
            <a:endParaRPr dirty="0"/>
          </a:p>
        </p:txBody>
      </p:sp>
      <p:sp>
        <p:nvSpPr>
          <p:cNvPr id="690" name="Google Shape;690;p39"/>
          <p:cNvSpPr txBox="1"/>
          <p:nvPr/>
        </p:nvSpPr>
        <p:spPr>
          <a:xfrm>
            <a:off x="5768411" y="5513832"/>
            <a:ext cx="428998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≈ £1.13 million — enough for ops to plan inventory</a:t>
            </a:r>
            <a:endParaRPr dirty="0"/>
          </a:p>
        </p:txBody>
      </p:sp>
      <p:sp>
        <p:nvSpPr>
          <p:cNvPr id="691" name="Google Shape;691;p39"/>
          <p:cNvSpPr txBox="1"/>
          <p:nvPr/>
        </p:nvSpPr>
        <p:spPr>
          <a:xfrm>
            <a:off x="10332720" y="5513832"/>
            <a:ext cx="1371600" cy="3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NB 03 Ext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799579" y="2550000"/>
            <a:ext cx="105924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>
                <a:solidFill>
                  <a:schemeClr val="lt1"/>
                </a:solidFill>
              </a:rPr>
              <a:t>So — how did Sarah do it?</a:t>
            </a:r>
            <a:endParaRPr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lt1"/>
                </a:solidFill>
              </a:rPr>
              <a:t>The methods, theory, and code behind the result — decomposition, classical baselines, then ML-with-lags.</a:t>
            </a:r>
            <a:endParaRPr sz="1800" b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Time-Series Trinity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Every series = Trend + Seasonality + Residual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48640" y="1783080"/>
            <a:ext cx="91440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48640" y="214884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📈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1600200" y="178308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828800" y="192024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Trend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828800" y="2377440"/>
            <a:ext cx="96012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Long-term direction.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Growth, decline, flat.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Smooth, slow-moving.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548640" y="3246120"/>
            <a:ext cx="91440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548640" y="361188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🔁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1600200" y="324612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1828800" y="338328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Seasonality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1828800" y="3840480"/>
            <a:ext cx="96012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Repeating cycles.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Annual, monthly, weekly, daily.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Predictable.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48640" y="4709160"/>
            <a:ext cx="91440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48640" y="5074920"/>
            <a:ext cx="9144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🎲</a:t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1600200" y="4709160"/>
            <a:ext cx="996696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828800" y="4846320"/>
            <a:ext cx="9601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Residual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828800" y="5303520"/>
            <a:ext cx="96012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What's left — noise + unexplained.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Should look like random fluctuation.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NorthStar Dataset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731 days · multi-seasonal revenue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548640" y="1490883"/>
            <a:ext cx="2651700" cy="1942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48640" y="1856643"/>
            <a:ext cx="265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731 days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48640" y="2588163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Two years of daily data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3337560" y="1490883"/>
            <a:ext cx="2651700" cy="19422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337560" y="1856643"/>
            <a:ext cx="265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£9,700/day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3337560" y="2588163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Mean revenue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6126479" y="1490883"/>
            <a:ext cx="2651700" cy="1942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6126479" y="1856643"/>
            <a:ext cx="265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£5.9k - £13.9k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126479" y="2588163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Range across the period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8915399" y="1490883"/>
            <a:ext cx="2651700" cy="19422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915399" y="1856643"/>
            <a:ext cx="2651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Multi-seasonal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915399" y="2588163"/>
            <a:ext cx="265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Trend + weekly + annual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48640" y="3776883"/>
            <a:ext cx="11064300" cy="25896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822960" y="3959763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patterns visible in the data: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14400" y="4416963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1.  Upward TREND across the 2 years (~£3/day growth, ~£1k/year)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14400" y="4782723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2.  WEEKLY cycle — weekends ~£1,400 higher than weekdays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14400" y="5148483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3.  ANNUAL cycle — November-December holiday spike, +£1,500 on top of weekly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STL Decomposition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robust default — captures one seasonality at a time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48640" y="1737360"/>
            <a:ext cx="1106424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decomposition equation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22960" y="2286000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y(t) = trend(t) + seasonal(t) + residual(t)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48640" y="3200400"/>
            <a:ext cx="11064240" cy="280537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77240" y="3383280"/>
            <a:ext cx="10698480" cy="237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from statsmodels.tsa.seasonal import STL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 = STL(y, period=7, robust=True).fit()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stl.trend       # the slow-moving direction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stl.seasonal    # the 7-day repeating pattern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stl.resid       # what's left — should look like noise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48640" y="5715000"/>
            <a:ext cx="11064240" cy="75529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822960" y="58521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STL handles ONE seasonality. For multi-seasonal data, use MSTL or capture other seasonalities via lag features.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Time-Series Cross-Validation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TimeSeriesSplit — test is always LATER than train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48640" y="1828800"/>
            <a:ext cx="1106424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2C5697"/>
                </a:solidFill>
                <a:latin typeface="Consolas"/>
                <a:ea typeface="Consolas"/>
                <a:cs typeface="Consolas"/>
                <a:sym typeface="Consolas"/>
              </a:rPr>
              <a:t>TimeSeriesSplit(n_splits=5, test_size=90)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48640" y="24688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1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1554480" y="2377440"/>
            <a:ext cx="182880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554480" y="2377440"/>
            <a:ext cx="182880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3429000" y="237744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3429000" y="237744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48640" y="297180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2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554480" y="2880360"/>
            <a:ext cx="32918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554480" y="2880360"/>
            <a:ext cx="329184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4892040" y="288036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892040" y="288036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48640" y="34747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3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1554480" y="3383280"/>
            <a:ext cx="475488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554480" y="3383280"/>
            <a:ext cx="475488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6355080" y="338328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6355080" y="338328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48640" y="39776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4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1554480" y="3886200"/>
            <a:ext cx="621792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554480" y="3886200"/>
            <a:ext cx="621792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7818120" y="388620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818120" y="388620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48640" y="448056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Fold 5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1554480" y="4389120"/>
            <a:ext cx="768096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554480" y="4389120"/>
            <a:ext cx="768096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TRAIN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9281160" y="4389120"/>
            <a:ext cx="137160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9281160" y="4389120"/>
            <a:ext cx="1371600" cy="485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48640" y="5571462"/>
            <a:ext cx="11064300" cy="755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822960" y="5708622"/>
            <a:ext cx="10515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⚠  NEVER use random KFold on time-series data — it leaks future information.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731520" y="9144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🟢  CODE-ALONG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731520" y="146304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Open: 02_decomposition.ipynb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31520" y="2834640"/>
            <a:ext cx="10698480" cy="64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What you'll do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914400" y="33832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 Run STL on the daily revenue with period=7.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14400" y="3886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 Read the 4-panel decomposition — trend, seasonal, residual.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4400" y="4389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 Set up TimeSeriesSplit + compute Seasonal Naive MAE/RMSE/MAPE.</a:t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731520" y="5212080"/>
            <a:ext cx="1069848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914400" y="53949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⏱  30 minutes  ·  Stop at the 🟡 Extension marker  ·  Extension is self-paced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Classical Forecasting Methods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Three tools — increasing sophistication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548640" y="1783080"/>
            <a:ext cx="73152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548640" y="205740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1417320" y="178308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645920" y="19202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Naive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645920" y="23774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 the LAST value for everything.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645920" y="27432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Useful only as the bar floor.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548640" y="3200400"/>
            <a:ext cx="73152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48640" y="347472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1417320" y="320040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1645920" y="333756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Seasonal Naive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645920" y="379476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 the value from ONE SEASON AGO (e.g., same-day-last-week).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645920" y="416052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▸ Strong baseline when seasonality is stable, no trend.</a:t>
            </a:r>
            <a:endParaRPr/>
          </a:p>
        </p:txBody>
      </p:sp>
      <p:sp>
        <p:nvSpPr>
          <p:cNvPr id="249" name="Google Shape;249;p22"/>
          <p:cNvSpPr/>
          <p:nvPr/>
        </p:nvSpPr>
        <p:spPr>
          <a:xfrm>
            <a:off x="548640" y="4617720"/>
            <a:ext cx="73152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548640" y="4892040"/>
            <a:ext cx="73152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1417320" y="461772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1645920" y="475488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Exponential Smoothing (ETS)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645920" y="521208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Adaptive weighted average + trend + seasonality.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645920" y="55778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▸ The pragmatic baseline every forecaster should know.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Exponential Smoothing (ETS)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Adaptive level + trend + seasonality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48640" y="1691640"/>
            <a:ext cx="11064240" cy="291327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777240" y="1874519"/>
            <a:ext cx="10698480" cy="2697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from statsmodels.tsa.holtwinters import ExponentialSmoothing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model = ExponentialSmoothing(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    y_train,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    trend="add",            # additive trend (or "mul" or None)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    seasonal="add",         # additive seasonality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    seasonal_periods=7,     # weekly cycle on daily 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).fit()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forecast = model.forecast(steps=90)   # 90-day forecast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548640" y="434340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Three ETS variants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40080" y="489204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SimpleExpSmoothing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4389120" y="489204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Level only (no trend, no seasonality)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7772400" y="4892040"/>
            <a:ext cx="3840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Flat or volatile-but-stationary series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40080" y="534924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Holt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4389120" y="534924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Level + trend (no seasonality)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7772400" y="5349240"/>
            <a:ext cx="3840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Growing/declining series with no obvious cycles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40080" y="580644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ExponentialSmoothing (Holt-Winters)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4389120" y="580644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Level + trend + ONE seasonality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772400" y="5806440"/>
            <a:ext cx="3840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The workhorse — most cases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Forecast Evaluation Metrics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Three standard ways to score a forecast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48640" y="1783080"/>
            <a:ext cx="109728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548640" y="2148840"/>
            <a:ext cx="10972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MAE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1783080" y="1783080"/>
            <a:ext cx="978408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2011680" y="196596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mean(|y_true − y_pred|)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2011680" y="246888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units as the target. Intuitive.</a:t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548640" y="3200400"/>
            <a:ext cx="109728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548640" y="3566160"/>
            <a:ext cx="10972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RMSE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1783080" y="3200400"/>
            <a:ext cx="978408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2011680" y="338328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sqrt(mean((y_true − y_pred)²))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2011680" y="388620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Penalises LARGE errors more than small ones.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548640" y="4617720"/>
            <a:ext cx="109728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548640" y="4983480"/>
            <a:ext cx="10972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MAPE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1783080" y="4617720"/>
            <a:ext cx="978408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2011680" y="480060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mean(|y_true − y_pred| / |y_true|) × 100%</a:t>
            </a:r>
            <a:endParaRPr/>
          </a:p>
        </p:txBody>
      </p:sp>
      <p:sp>
        <p:nvSpPr>
          <p:cNvPr id="299" name="Google Shape;299;p24"/>
          <p:cNvSpPr txBox="1"/>
          <p:nvPr/>
        </p:nvSpPr>
        <p:spPr>
          <a:xfrm>
            <a:off x="2011680" y="5303520"/>
            <a:ext cx="94183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Percentage. Scale-free. Watch out near zero.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731520" y="9144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🟢  CODE-ALONG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731520" y="146304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Open: 03_classical_forecasting.ipynb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731520" y="2834640"/>
            <a:ext cx="10698480" cy="64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What you'll do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914400" y="33832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 Build Naive + Seasonal Naive + ETS-weekly forecasts on the same train/test split.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914400" y="3886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 Compute MAE / RMSE / MAPE for each.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914400" y="4389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 Visualise all three forecasts against the actual values.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731520" y="5212080"/>
            <a:ext cx="1069848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914400" y="53949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⏱  30 minutes  ·  Stop at the 🟡 Extension marker  ·  Extension is self-paced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ML-with-Lags — The Modern Default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Time series → tabular regression with lag features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548640" y="1737360"/>
            <a:ext cx="1106424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822960" y="1874519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The trick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822960" y="2286000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"For each day, ADD COLUMNS for past values (lag_1, lag_7, lag_365).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Now it's a tabular dataset — train any regression model on it."</a:t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548640" y="3200400"/>
            <a:ext cx="11064240" cy="280537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777240" y="33375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Example feature table: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822960" y="3749039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2194560" y="3749039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3291840" y="3749039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lag_1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4297680" y="3749039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lag_7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5303520" y="3749039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lag_365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6400800" y="3749039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dayofweek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7772400" y="3749039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month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8778240" y="3749039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822960" y="4160520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2024-01-10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2194560" y="416052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9200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3291840" y="41605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8800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4297680" y="41605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9100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5303520" y="416052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8500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6400800" y="4160520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7772400" y="416052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822960" y="4526280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2024-01-11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2194560" y="452628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9400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3291840" y="45262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9200</a:t>
            </a:r>
            <a:endParaRPr/>
          </a:p>
        </p:txBody>
      </p:sp>
      <p:sp>
        <p:nvSpPr>
          <p:cNvPr id="348" name="Google Shape;348;p26"/>
          <p:cNvSpPr txBox="1"/>
          <p:nvPr/>
        </p:nvSpPr>
        <p:spPr>
          <a:xfrm>
            <a:off x="4297680" y="45262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9300</a:t>
            </a:r>
            <a:endParaRPr/>
          </a:p>
        </p:txBody>
      </p:sp>
      <p:sp>
        <p:nvSpPr>
          <p:cNvPr id="349" name="Google Shape;349;p26"/>
          <p:cNvSpPr txBox="1"/>
          <p:nvPr/>
        </p:nvSpPr>
        <p:spPr>
          <a:xfrm>
            <a:off x="5303520" y="452628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8600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6400800" y="4526280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7772400" y="452628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822960" y="4892040"/>
            <a:ext cx="12801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2024-01-12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2194560" y="489204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9700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3291840" y="48920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9400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4297680" y="48920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9500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5303520" y="4892040"/>
            <a:ext cx="9144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8800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6400800" y="4892040"/>
            <a:ext cx="118872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7772400" y="4892040"/>
            <a:ext cx="82296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</p:txBody>
      </p:sp>
      <p:sp>
        <p:nvSpPr>
          <p:cNvPr id="359" name="Google Shape;359;p26"/>
          <p:cNvSpPr/>
          <p:nvPr/>
        </p:nvSpPr>
        <p:spPr>
          <a:xfrm>
            <a:off x="548640" y="5715000"/>
            <a:ext cx="11064240" cy="75529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0" name="Google Shape;360;p26"/>
          <p:cNvSpPr txBox="1"/>
          <p:nvPr/>
        </p:nvSpPr>
        <p:spPr>
          <a:xfrm>
            <a:off x="822960" y="58521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Each row predicts its target from features that include past values. Standard regression — same gradient boosting from L04.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548640" y="222222"/>
            <a:ext cx="1097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ML-with-Lags — The Code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548640" y="834367"/>
            <a:ext cx="10972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Build features → split → train</a:t>
            </a:r>
            <a:endParaRPr/>
          </a:p>
        </p:txBody>
      </p:sp>
      <p:sp>
        <p:nvSpPr>
          <p:cNvPr id="369" name="Google Shape;369;p27"/>
          <p:cNvSpPr/>
          <p:nvPr/>
        </p:nvSpPr>
        <p:spPr>
          <a:xfrm>
            <a:off x="548640" y="1149195"/>
            <a:ext cx="11064300" cy="5394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777240" y="1332074"/>
            <a:ext cx="10698600" cy="49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# 1.  Build lag features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df["lag_1"]     = df["revenue"].shift(1)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df["lag_7"]     = df["revenue"].shift(7)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df["lag_365"]   = df["revenue"].shift(365)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df["dayofweek"] = df.index.dayofweek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df["month"]     = df.index.month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# 2.  Drop rows with NaN (first 365 days)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df = df.dropna()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# 3.  Train/test split — by DATE, not random!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X_train = df[df.index &lt; test_start].drop(columns="revenue")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y_train = df[df.index &lt; test_start]["revenue"]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X_test  = df[df.index &gt;= test_start].drop(columns="revenue")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y_test  = df[df.index &gt;= test_start]["revenue"]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0">
              <a:solidFill>
                <a:srgbClr val="F4F5F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# 4.  Train — same as any other regression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from sklearn.ensemble import HistGradientBoostingRegressor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model = HistGradientBoostingRegressor(max_iter=200, learning_rate=0.05)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Consolas"/>
                <a:ea typeface="Consolas"/>
                <a:cs typeface="Consolas"/>
                <a:sym typeface="Consolas"/>
              </a:rPr>
              <a:t>model.fit(X_train, y_train)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Recursive vs Direct Forecasting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How to predict many steps ahead</a:t>
            </a:r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548650" y="1658580"/>
            <a:ext cx="5486400" cy="4695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777240" y="1795744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Recursive</a:t>
            </a:r>
            <a:endParaRPr/>
          </a:p>
        </p:txBody>
      </p:sp>
      <p:sp>
        <p:nvSpPr>
          <p:cNvPr id="382" name="Google Shape;382;p28"/>
          <p:cNvSpPr txBox="1"/>
          <p:nvPr/>
        </p:nvSpPr>
        <p:spPr>
          <a:xfrm>
            <a:off x="777240" y="2298664"/>
            <a:ext cx="5029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1.  Predict day t+1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2.  Plug prediction into lag_1 for day t+2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3.  Predict day t+2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4.  Plug both predictions into lags for day t+3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5.  Repeat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777240" y="4447504"/>
            <a:ext cx="5029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  • Simple — one model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  • Works for arbitrary horizons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rgbClr val="333D4D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Cons: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  • Errors compound over horizon</a:t>
            </a:r>
            <a:endParaRPr/>
          </a:p>
        </p:txBody>
      </p:sp>
      <p:sp>
        <p:nvSpPr>
          <p:cNvPr id="384" name="Google Shape;384;p28"/>
          <p:cNvSpPr/>
          <p:nvPr/>
        </p:nvSpPr>
        <p:spPr>
          <a:xfrm>
            <a:off x="6172200" y="1658580"/>
            <a:ext cx="5486400" cy="4695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5" name="Google Shape;385;p28"/>
          <p:cNvSpPr txBox="1"/>
          <p:nvPr/>
        </p:nvSpPr>
        <p:spPr>
          <a:xfrm>
            <a:off x="6400800" y="1795744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Direct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6400800" y="2298664"/>
            <a:ext cx="5029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Train a SEPARATE model for each horizon: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Model 1 — 1-day-ahead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Model 7 — 7-day-ahead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Model 30 — 30-day-ahead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...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6400800" y="4447504"/>
            <a:ext cx="50292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Pros: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• Errors don't compound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• Often better at long horizons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>
              <a:solidFill>
                <a:srgbClr val="F4F5F7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Cons: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• Many models to train + maintain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• Each model uses less data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731520" y="9144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🟢  CODE-ALONG</a:t>
            </a:r>
            <a:endParaRPr/>
          </a:p>
        </p:txBody>
      </p:sp>
      <p:sp>
        <p:nvSpPr>
          <p:cNvPr id="397" name="Google Shape;397;p29"/>
          <p:cNvSpPr txBox="1"/>
          <p:nvPr/>
        </p:nvSpPr>
        <p:spPr>
          <a:xfrm>
            <a:off x="731520" y="146304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Open: 04_ml_forecasting.ipynb</a:t>
            </a:r>
            <a:endParaRPr/>
          </a:p>
        </p:txBody>
      </p:sp>
      <p:sp>
        <p:nvSpPr>
          <p:cNvPr id="398" name="Google Shape;398;p29"/>
          <p:cNvSpPr txBox="1"/>
          <p:nvPr/>
        </p:nvSpPr>
        <p:spPr>
          <a:xfrm>
            <a:off x="731520" y="2834640"/>
            <a:ext cx="10698480" cy="647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What you'll do</a:t>
            </a:r>
            <a:endParaRPr/>
          </a:p>
        </p:txBody>
      </p:sp>
      <p:sp>
        <p:nvSpPr>
          <p:cNvPr id="399" name="Google Shape;399;p29"/>
          <p:cNvSpPr txBox="1"/>
          <p:nvPr/>
        </p:nvSpPr>
        <p:spPr>
          <a:xfrm>
            <a:off x="914400" y="33832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1.  Build lag features (lag_1 + lag_7 + lag_365 + calendar).</a:t>
            </a:r>
            <a:endParaRPr/>
          </a:p>
        </p:txBody>
      </p:sp>
      <p:sp>
        <p:nvSpPr>
          <p:cNvPr id="400" name="Google Shape;400;p29"/>
          <p:cNvSpPr txBox="1"/>
          <p:nvPr/>
        </p:nvSpPr>
        <p:spPr>
          <a:xfrm>
            <a:off x="914400" y="3886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 Train HistGradientBoostingRegressor.</a:t>
            </a:r>
            <a:endParaRPr/>
          </a:p>
        </p:txBody>
      </p:sp>
      <p:sp>
        <p:nvSpPr>
          <p:cNvPr id="401" name="Google Shape;401;p29"/>
          <p:cNvSpPr txBox="1"/>
          <p:nvPr/>
        </p:nvSpPr>
        <p:spPr>
          <a:xfrm>
            <a:off x="914400" y="4389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 Recursive forecast 90 days + compare against classical baselines.</a:t>
            </a:r>
            <a:endParaRPr/>
          </a:p>
        </p:txBody>
      </p:sp>
      <p:sp>
        <p:nvSpPr>
          <p:cNvPr id="402" name="Google Shape;402;p29"/>
          <p:cNvSpPr/>
          <p:nvPr/>
        </p:nvSpPr>
        <p:spPr>
          <a:xfrm>
            <a:off x="731520" y="5212080"/>
            <a:ext cx="1069848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914400" y="53949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⏱  30 minutes  ·  Stop at the 🟡 Extension marker  ·  Extension is self-paced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2" name="Google Shape;722;p4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4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Which Lags Matter Most?</a:t>
            </a:r>
            <a:endParaRPr/>
          </a:p>
        </p:txBody>
      </p:sp>
      <p:sp>
        <p:nvSpPr>
          <p:cNvPr id="724" name="Google Shape;724;p41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Permutation importance from the ML forecaster</a:t>
            </a:r>
            <a:endParaRPr/>
          </a:p>
        </p:txBody>
      </p:sp>
      <p:sp>
        <p:nvSpPr>
          <p:cNvPr id="725" name="Google Shape;725;p41"/>
          <p:cNvSpPr/>
          <p:nvPr/>
        </p:nvSpPr>
        <p:spPr>
          <a:xfrm>
            <a:off x="548640" y="1828800"/>
            <a:ext cx="365760" cy="863193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p41"/>
          <p:cNvSpPr/>
          <p:nvPr/>
        </p:nvSpPr>
        <p:spPr>
          <a:xfrm>
            <a:off x="960120" y="1828800"/>
            <a:ext cx="10698480" cy="86319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7" name="Google Shape;727;p41"/>
          <p:cNvSpPr txBox="1"/>
          <p:nvPr/>
        </p:nvSpPr>
        <p:spPr>
          <a:xfrm>
            <a:off x="1188720" y="201168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lag_7</a:t>
            </a:r>
            <a:endParaRPr/>
          </a:p>
        </p:txBody>
      </p:sp>
      <p:sp>
        <p:nvSpPr>
          <p:cNvPr id="728" name="Google Shape;728;p41"/>
          <p:cNvSpPr txBox="1"/>
          <p:nvPr/>
        </p:nvSpPr>
        <p:spPr>
          <a:xfrm>
            <a:off x="4114800" y="201168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C5697"/>
                </a:solidFill>
                <a:latin typeface="Consolas"/>
                <a:ea typeface="Consolas"/>
                <a:cs typeface="Consolas"/>
                <a:sym typeface="Consolas"/>
              </a:rPr>
              <a:t>241.4</a:t>
            </a:r>
            <a:endParaRPr/>
          </a:p>
        </p:txBody>
      </p:sp>
      <p:sp>
        <p:nvSpPr>
          <p:cNvPr id="729" name="Google Shape;729;p41"/>
          <p:cNvSpPr txBox="1"/>
          <p:nvPr/>
        </p:nvSpPr>
        <p:spPr>
          <a:xfrm>
            <a:off x="6400800" y="201168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Same-day-last-week — weekly cycle</a:t>
            </a:r>
            <a:endParaRPr/>
          </a:p>
        </p:txBody>
      </p:sp>
      <p:sp>
        <p:nvSpPr>
          <p:cNvPr id="730" name="Google Shape;730;p41"/>
          <p:cNvSpPr/>
          <p:nvPr/>
        </p:nvSpPr>
        <p:spPr>
          <a:xfrm>
            <a:off x="548640" y="2651760"/>
            <a:ext cx="365760" cy="863193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1" name="Google Shape;731;p41"/>
          <p:cNvSpPr/>
          <p:nvPr/>
        </p:nvSpPr>
        <p:spPr>
          <a:xfrm>
            <a:off x="960120" y="2651760"/>
            <a:ext cx="10698480" cy="86319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p41"/>
          <p:cNvSpPr txBox="1"/>
          <p:nvPr/>
        </p:nvSpPr>
        <p:spPr>
          <a:xfrm>
            <a:off x="1188720" y="283464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dayofweek</a:t>
            </a:r>
            <a:endParaRPr/>
          </a:p>
        </p:txBody>
      </p:sp>
      <p:sp>
        <p:nvSpPr>
          <p:cNvPr id="733" name="Google Shape;733;p41"/>
          <p:cNvSpPr txBox="1"/>
          <p:nvPr/>
        </p:nvSpPr>
        <p:spPr>
          <a:xfrm>
            <a:off x="4114800" y="283464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100.2</a:t>
            </a:r>
            <a:endParaRPr/>
          </a:p>
        </p:txBody>
      </p:sp>
      <p:sp>
        <p:nvSpPr>
          <p:cNvPr id="734" name="Google Shape;734;p41"/>
          <p:cNvSpPr txBox="1"/>
          <p:nvPr/>
        </p:nvSpPr>
        <p:spPr>
          <a:xfrm>
            <a:off x="6400800" y="283464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Day-of-week calendar feature</a:t>
            </a:r>
            <a:endParaRPr/>
          </a:p>
        </p:txBody>
      </p:sp>
      <p:sp>
        <p:nvSpPr>
          <p:cNvPr id="735" name="Google Shape;735;p41"/>
          <p:cNvSpPr/>
          <p:nvPr/>
        </p:nvSpPr>
        <p:spPr>
          <a:xfrm>
            <a:off x="548640" y="3474720"/>
            <a:ext cx="365760" cy="863193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6" name="Google Shape;736;p41"/>
          <p:cNvSpPr/>
          <p:nvPr/>
        </p:nvSpPr>
        <p:spPr>
          <a:xfrm>
            <a:off x="960120" y="3474720"/>
            <a:ext cx="10698480" cy="86319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7" name="Google Shape;737;p41"/>
          <p:cNvSpPr txBox="1"/>
          <p:nvPr/>
        </p:nvSpPr>
        <p:spPr>
          <a:xfrm>
            <a:off x="1188720" y="36576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lag_365</a:t>
            </a:r>
            <a:endParaRPr/>
          </a:p>
        </p:txBody>
      </p:sp>
      <p:sp>
        <p:nvSpPr>
          <p:cNvPr id="738" name="Google Shape;738;p41"/>
          <p:cNvSpPr txBox="1"/>
          <p:nvPr/>
        </p:nvSpPr>
        <p:spPr>
          <a:xfrm>
            <a:off x="4114800" y="365760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20.4</a:t>
            </a:r>
            <a:endParaRPr/>
          </a:p>
        </p:txBody>
      </p:sp>
      <p:sp>
        <p:nvSpPr>
          <p:cNvPr id="739" name="Google Shape;739;p41"/>
          <p:cNvSpPr txBox="1"/>
          <p:nvPr/>
        </p:nvSpPr>
        <p:spPr>
          <a:xfrm>
            <a:off x="6400800" y="365760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Same-day-last-year — annual cycle</a:t>
            </a:r>
            <a:endParaRPr/>
          </a:p>
        </p:txBody>
      </p:sp>
      <p:sp>
        <p:nvSpPr>
          <p:cNvPr id="740" name="Google Shape;740;p41"/>
          <p:cNvSpPr/>
          <p:nvPr/>
        </p:nvSpPr>
        <p:spPr>
          <a:xfrm>
            <a:off x="548640" y="4297680"/>
            <a:ext cx="365760" cy="863193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p41"/>
          <p:cNvSpPr/>
          <p:nvPr/>
        </p:nvSpPr>
        <p:spPr>
          <a:xfrm>
            <a:off x="960120" y="4297680"/>
            <a:ext cx="10698480" cy="86319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2" name="Google Shape;742;p41"/>
          <p:cNvSpPr txBox="1"/>
          <p:nvPr/>
        </p:nvSpPr>
        <p:spPr>
          <a:xfrm>
            <a:off x="1188720" y="44805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lag_1</a:t>
            </a:r>
            <a:endParaRPr/>
          </a:p>
        </p:txBody>
      </p:sp>
      <p:sp>
        <p:nvSpPr>
          <p:cNvPr id="743" name="Google Shape;743;p41"/>
          <p:cNvSpPr txBox="1"/>
          <p:nvPr/>
        </p:nvSpPr>
        <p:spPr>
          <a:xfrm>
            <a:off x="4114800" y="448056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8.0</a:t>
            </a:r>
            <a:endParaRPr/>
          </a:p>
        </p:txBody>
      </p:sp>
      <p:sp>
        <p:nvSpPr>
          <p:cNvPr id="744" name="Google Shape;744;p41"/>
          <p:cNvSpPr txBox="1"/>
          <p:nvPr/>
        </p:nvSpPr>
        <p:spPr>
          <a:xfrm>
            <a:off x="6400800" y="448056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Yesterday — short-term momentum</a:t>
            </a:r>
            <a:endParaRPr/>
          </a:p>
        </p:txBody>
      </p:sp>
      <p:sp>
        <p:nvSpPr>
          <p:cNvPr id="745" name="Google Shape;745;p41"/>
          <p:cNvSpPr/>
          <p:nvPr/>
        </p:nvSpPr>
        <p:spPr>
          <a:xfrm>
            <a:off x="548640" y="5120640"/>
            <a:ext cx="365760" cy="863193"/>
          </a:xfrm>
          <a:prstGeom prst="rect">
            <a:avLst/>
          </a:prstGeom>
          <a:solidFill>
            <a:srgbClr val="333D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6" name="Google Shape;746;p41"/>
          <p:cNvSpPr/>
          <p:nvPr/>
        </p:nvSpPr>
        <p:spPr>
          <a:xfrm>
            <a:off x="960120" y="5120640"/>
            <a:ext cx="10698480" cy="86319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7" name="Google Shape;747;p41"/>
          <p:cNvSpPr txBox="1"/>
          <p:nvPr/>
        </p:nvSpPr>
        <p:spPr>
          <a:xfrm>
            <a:off x="1188720" y="53035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lag_30</a:t>
            </a:r>
            <a:endParaRPr/>
          </a:p>
        </p:txBody>
      </p:sp>
      <p:sp>
        <p:nvSpPr>
          <p:cNvPr id="748" name="Google Shape;748;p41"/>
          <p:cNvSpPr txBox="1"/>
          <p:nvPr/>
        </p:nvSpPr>
        <p:spPr>
          <a:xfrm>
            <a:off x="4114800" y="530352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-16.5</a:t>
            </a:r>
            <a:endParaRPr/>
          </a:p>
        </p:txBody>
      </p:sp>
      <p:sp>
        <p:nvSpPr>
          <p:cNvPr id="749" name="Google Shape;749;p41"/>
          <p:cNvSpPr txBox="1"/>
          <p:nvPr/>
        </p:nvSpPr>
        <p:spPr>
          <a:xfrm>
            <a:off x="6400800" y="5303520"/>
            <a:ext cx="50292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30 days ago — basically noise</a:t>
            </a:r>
            <a:endParaRPr/>
          </a:p>
        </p:txBody>
      </p:sp>
      <p:sp>
        <p:nvSpPr>
          <p:cNvPr id="750" name="Google Shape;750;p41"/>
          <p:cNvSpPr/>
          <p:nvPr/>
        </p:nvSpPr>
        <p:spPr>
          <a:xfrm>
            <a:off x="548640" y="6080760"/>
            <a:ext cx="11064240" cy="4315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1" name="Google Shape;751;p41"/>
          <p:cNvSpPr txBox="1"/>
          <p:nvPr/>
        </p:nvSpPr>
        <p:spPr>
          <a:xfrm>
            <a:off x="822960" y="6126480"/>
            <a:ext cx="105156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Higher number = bigger MAE jump when this feature is shuffled = more critical.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0" name="Google Shape;500;p3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Things to Remember</a:t>
            </a:r>
            <a:endParaRPr/>
          </a:p>
        </p:txBody>
      </p:sp>
      <p:sp>
        <p:nvSpPr>
          <p:cNvPr id="502" name="Google Shape;502;p34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practical wisdom beyond the algorithms</a:t>
            </a:r>
            <a:endParaRPr/>
          </a:p>
        </p:txBody>
      </p:sp>
      <p:sp>
        <p:nvSpPr>
          <p:cNvPr id="503" name="Google Shape;503;p34"/>
          <p:cNvSpPr/>
          <p:nvPr/>
        </p:nvSpPr>
        <p:spPr>
          <a:xfrm>
            <a:off x="548640" y="17830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548640" y="20116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1417320" y="17830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1645920" y="196596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Time-series cross-validation is non-negotiable</a:t>
            </a:r>
            <a:endParaRPr/>
          </a:p>
        </p:txBody>
      </p:sp>
      <p:sp>
        <p:nvSpPr>
          <p:cNvPr id="507" name="Google Shape;507;p34"/>
          <p:cNvSpPr txBox="1"/>
          <p:nvPr/>
        </p:nvSpPr>
        <p:spPr>
          <a:xfrm>
            <a:off x="1645920" y="242316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Always use TimeSeriesSplit, never KFold. The future hasn't happened — training on it is leakage.</a:t>
            </a:r>
            <a:endParaRPr/>
          </a:p>
        </p:txBody>
      </p:sp>
      <p:sp>
        <p:nvSpPr>
          <p:cNvPr id="508" name="Google Shape;508;p34"/>
          <p:cNvSpPr/>
          <p:nvPr/>
        </p:nvSpPr>
        <p:spPr>
          <a:xfrm>
            <a:off x="548640" y="32461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9" name="Google Shape;509;p34"/>
          <p:cNvSpPr txBox="1"/>
          <p:nvPr/>
        </p:nvSpPr>
        <p:spPr>
          <a:xfrm>
            <a:off x="548640" y="347472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510" name="Google Shape;510;p34"/>
          <p:cNvSpPr/>
          <p:nvPr/>
        </p:nvSpPr>
        <p:spPr>
          <a:xfrm>
            <a:off x="1417320" y="32461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34"/>
          <p:cNvSpPr txBox="1"/>
          <p:nvPr/>
        </p:nvSpPr>
        <p:spPr>
          <a:xfrm>
            <a:off x="1645920" y="342900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Lag features turn time series into tabular regression</a:t>
            </a:r>
            <a:endParaRPr/>
          </a:p>
        </p:txBody>
      </p:sp>
      <p:sp>
        <p:nvSpPr>
          <p:cNvPr id="512" name="Google Shape;512;p34"/>
          <p:cNvSpPr txBox="1"/>
          <p:nvPr/>
        </p:nvSpPr>
        <p:spPr>
          <a:xfrm>
            <a:off x="1645920" y="388620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Add lag_1, lag_7, lag_365, calendar columns. Train ANY regression model. Handles multi-seasonal data.</a:t>
            </a:r>
            <a:endParaRPr/>
          </a:p>
        </p:txBody>
      </p:sp>
      <p:sp>
        <p:nvSpPr>
          <p:cNvPr id="513" name="Google Shape;513;p34"/>
          <p:cNvSpPr/>
          <p:nvPr/>
        </p:nvSpPr>
        <p:spPr>
          <a:xfrm>
            <a:off x="548640" y="47091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548640" y="493776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1417320" y="47091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1645920" y="48920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Evaluate on cross-validated windows, not a single split</a:t>
            </a:r>
            <a:endParaRPr/>
          </a:p>
        </p:txBody>
      </p:sp>
      <p:sp>
        <p:nvSpPr>
          <p:cNvPr id="517" name="Google Shape;517;p34"/>
          <p:cNvSpPr txBox="1"/>
          <p:nvPr/>
        </p:nvSpPr>
        <p:spPr>
          <a:xfrm>
            <a:off x="1645920" y="53492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single window can give misleading results (e.g., the holiday window). Average across windows.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4" name="Google Shape;524;p3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5" name="Google Shape;525;p35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Method Comparison</a:t>
            </a:r>
            <a:endParaRPr/>
          </a:p>
        </p:txBody>
      </p:sp>
      <p:sp>
        <p:nvSpPr>
          <p:cNvPr id="526" name="Google Shape;526;p35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When to use which forecasting tool</a:t>
            </a:r>
            <a:endParaRPr/>
          </a:p>
        </p:txBody>
      </p:sp>
      <p:sp>
        <p:nvSpPr>
          <p:cNvPr id="527" name="Google Shape;527;p35"/>
          <p:cNvSpPr/>
          <p:nvPr/>
        </p:nvSpPr>
        <p:spPr>
          <a:xfrm>
            <a:off x="548640" y="1783080"/>
            <a:ext cx="11064240" cy="5394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8" name="Google Shape;528;p35"/>
          <p:cNvSpPr txBox="1"/>
          <p:nvPr/>
        </p:nvSpPr>
        <p:spPr>
          <a:xfrm>
            <a:off x="82296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Method</a:t>
            </a:r>
            <a:endParaRPr/>
          </a:p>
        </p:txBody>
      </p:sp>
      <p:sp>
        <p:nvSpPr>
          <p:cNvPr id="529" name="Google Shape;529;p35"/>
          <p:cNvSpPr txBox="1"/>
          <p:nvPr/>
        </p:nvSpPr>
        <p:spPr>
          <a:xfrm>
            <a:off x="320040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Best for</a:t>
            </a:r>
            <a:endParaRPr/>
          </a:p>
        </p:txBody>
      </p:sp>
      <p:sp>
        <p:nvSpPr>
          <p:cNvPr id="530" name="Google Shape;530;p35"/>
          <p:cNvSpPr txBox="1"/>
          <p:nvPr/>
        </p:nvSpPr>
        <p:spPr>
          <a:xfrm>
            <a:off x="640080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Pros</a:t>
            </a:r>
            <a:endParaRPr/>
          </a:p>
        </p:txBody>
      </p:sp>
      <p:sp>
        <p:nvSpPr>
          <p:cNvPr id="531" name="Google Shape;531;p35"/>
          <p:cNvSpPr txBox="1"/>
          <p:nvPr/>
        </p:nvSpPr>
        <p:spPr>
          <a:xfrm>
            <a:off x="9144000" y="1874519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</a:t>
            </a:r>
            <a:endParaRPr/>
          </a:p>
        </p:txBody>
      </p:sp>
      <p:sp>
        <p:nvSpPr>
          <p:cNvPr id="532" name="Google Shape;532;p35"/>
          <p:cNvSpPr/>
          <p:nvPr/>
        </p:nvSpPr>
        <p:spPr>
          <a:xfrm>
            <a:off x="548640" y="23317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3" name="Google Shape;533;p35"/>
          <p:cNvSpPr txBox="1"/>
          <p:nvPr/>
        </p:nvSpPr>
        <p:spPr>
          <a:xfrm>
            <a:off x="82296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Naive</a:t>
            </a:r>
            <a:endParaRPr/>
          </a:p>
        </p:txBody>
      </p:sp>
      <p:sp>
        <p:nvSpPr>
          <p:cNvPr id="534" name="Google Shape;534;p35"/>
          <p:cNvSpPr txBox="1"/>
          <p:nvPr/>
        </p:nvSpPr>
        <p:spPr>
          <a:xfrm>
            <a:off x="320040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Bar floor; sanity check</a:t>
            </a:r>
            <a:endParaRPr/>
          </a:p>
        </p:txBody>
      </p:sp>
      <p:sp>
        <p:nvSpPr>
          <p:cNvPr id="535" name="Google Shape;535;p35"/>
          <p:cNvSpPr txBox="1"/>
          <p:nvPr/>
        </p:nvSpPr>
        <p:spPr>
          <a:xfrm>
            <a:off x="640080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Trivially simple</a:t>
            </a:r>
            <a:endParaRPr/>
          </a:p>
        </p:txBody>
      </p:sp>
      <p:sp>
        <p:nvSpPr>
          <p:cNvPr id="536" name="Google Shape;536;p35"/>
          <p:cNvSpPr txBox="1"/>
          <p:nvPr/>
        </p:nvSpPr>
        <p:spPr>
          <a:xfrm>
            <a:off x="9144000" y="2441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Almost always beaten</a:t>
            </a:r>
            <a:endParaRPr/>
          </a:p>
        </p:txBody>
      </p:sp>
      <p:sp>
        <p:nvSpPr>
          <p:cNvPr id="537" name="Google Shape;537;p35"/>
          <p:cNvSpPr/>
          <p:nvPr/>
        </p:nvSpPr>
        <p:spPr>
          <a:xfrm>
            <a:off x="548640" y="2788920"/>
            <a:ext cx="11064240" cy="485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82296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Seasonal Naive</a:t>
            </a:r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320040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Stable seasonal data</a:t>
            </a:r>
            <a:endParaRPr/>
          </a:p>
        </p:txBody>
      </p:sp>
      <p:sp>
        <p:nvSpPr>
          <p:cNvPr id="540" name="Google Shape;540;p35"/>
          <p:cNvSpPr txBox="1"/>
          <p:nvPr/>
        </p:nvSpPr>
        <p:spPr>
          <a:xfrm>
            <a:off x="640080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Captures seasonality</a:t>
            </a:r>
            <a:endParaRPr/>
          </a:p>
        </p:txBody>
      </p:sp>
      <p:sp>
        <p:nvSpPr>
          <p:cNvPr id="541" name="Google Shape;541;p35"/>
          <p:cNvSpPr txBox="1"/>
          <p:nvPr/>
        </p:nvSpPr>
        <p:spPr>
          <a:xfrm>
            <a:off x="9144000" y="2898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Misses trend; misses regime change</a:t>
            </a:r>
            <a:endParaRPr/>
          </a:p>
        </p:txBody>
      </p:sp>
      <p:sp>
        <p:nvSpPr>
          <p:cNvPr id="542" name="Google Shape;542;p35"/>
          <p:cNvSpPr/>
          <p:nvPr/>
        </p:nvSpPr>
        <p:spPr>
          <a:xfrm>
            <a:off x="548640" y="32461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3" name="Google Shape;543;p35"/>
          <p:cNvSpPr txBox="1"/>
          <p:nvPr/>
        </p:nvSpPr>
        <p:spPr>
          <a:xfrm>
            <a:off x="82296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ETS</a:t>
            </a:r>
            <a:endParaRPr/>
          </a:p>
        </p:txBody>
      </p:sp>
      <p:sp>
        <p:nvSpPr>
          <p:cNvPr id="544" name="Google Shape;544;p35"/>
          <p:cNvSpPr txBox="1"/>
          <p:nvPr/>
        </p:nvSpPr>
        <p:spPr>
          <a:xfrm>
            <a:off x="320040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One seasonality + trend</a:t>
            </a:r>
            <a:endParaRPr/>
          </a:p>
        </p:txBody>
      </p:sp>
      <p:sp>
        <p:nvSpPr>
          <p:cNvPr id="545" name="Google Shape;545;p35"/>
          <p:cNvSpPr txBox="1"/>
          <p:nvPr/>
        </p:nvSpPr>
        <p:spPr>
          <a:xfrm>
            <a:off x="640080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Adaptive; well-tested</a:t>
            </a:r>
            <a:endParaRPr/>
          </a:p>
        </p:txBody>
      </p:sp>
      <p:sp>
        <p:nvSpPr>
          <p:cNvPr id="546" name="Google Shape;546;p35"/>
          <p:cNvSpPr txBox="1"/>
          <p:nvPr/>
        </p:nvSpPr>
        <p:spPr>
          <a:xfrm>
            <a:off x="9144000" y="33558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Single-seasonality only</a:t>
            </a:r>
            <a:endParaRPr/>
          </a:p>
        </p:txBody>
      </p:sp>
      <p:sp>
        <p:nvSpPr>
          <p:cNvPr id="547" name="Google Shape;547;p35"/>
          <p:cNvSpPr/>
          <p:nvPr/>
        </p:nvSpPr>
        <p:spPr>
          <a:xfrm>
            <a:off x="548640" y="3703320"/>
            <a:ext cx="11064240" cy="485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82296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ARIMA (Ext)</a:t>
            </a:r>
            <a:endParaRPr/>
          </a:p>
        </p:txBody>
      </p:sp>
      <p:sp>
        <p:nvSpPr>
          <p:cNvPr id="549" name="Google Shape;549;p35"/>
          <p:cNvSpPr txBox="1"/>
          <p:nvPr/>
        </p:nvSpPr>
        <p:spPr>
          <a:xfrm>
            <a:off x="320040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Stationary or differenced data</a:t>
            </a:r>
            <a:endParaRPr/>
          </a:p>
        </p:txBody>
      </p:sp>
      <p:sp>
        <p:nvSpPr>
          <p:cNvPr id="550" name="Google Shape;550;p35"/>
          <p:cNvSpPr txBox="1"/>
          <p:nvPr/>
        </p:nvSpPr>
        <p:spPr>
          <a:xfrm>
            <a:off x="640080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Theoretical foundation</a:t>
            </a:r>
            <a:endParaRPr/>
          </a:p>
        </p:txBody>
      </p:sp>
      <p:sp>
        <p:nvSpPr>
          <p:cNvPr id="551" name="Google Shape;551;p35"/>
          <p:cNvSpPr txBox="1"/>
          <p:nvPr/>
        </p:nvSpPr>
        <p:spPr>
          <a:xfrm>
            <a:off x="9144000" y="38130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Needs tuning; AutoARIMA helps</a:t>
            </a:r>
            <a:endParaRPr/>
          </a:p>
        </p:txBody>
      </p:sp>
      <p:sp>
        <p:nvSpPr>
          <p:cNvPr id="552" name="Google Shape;552;p35"/>
          <p:cNvSpPr/>
          <p:nvPr/>
        </p:nvSpPr>
        <p:spPr>
          <a:xfrm>
            <a:off x="548640" y="41605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35"/>
          <p:cNvSpPr txBox="1"/>
          <p:nvPr/>
        </p:nvSpPr>
        <p:spPr>
          <a:xfrm>
            <a:off x="82296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SARIMA (Ext)</a:t>
            </a:r>
            <a:endParaRPr/>
          </a:p>
        </p:txBody>
      </p:sp>
      <p:sp>
        <p:nvSpPr>
          <p:cNvPr id="554" name="Google Shape;554;p35"/>
          <p:cNvSpPr txBox="1"/>
          <p:nvPr/>
        </p:nvSpPr>
        <p:spPr>
          <a:xfrm>
            <a:off x="320040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Seasonal ARIMA</a:t>
            </a:r>
            <a:endParaRPr/>
          </a:p>
        </p:txBody>
      </p:sp>
      <p:sp>
        <p:nvSpPr>
          <p:cNvPr id="555" name="Google Shape;555;p35"/>
          <p:cNvSpPr txBox="1"/>
          <p:nvPr/>
        </p:nvSpPr>
        <p:spPr>
          <a:xfrm>
            <a:off x="640080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Models seasonality directly</a:t>
            </a:r>
            <a:endParaRPr/>
          </a:p>
        </p:txBody>
      </p:sp>
      <p:sp>
        <p:nvSpPr>
          <p:cNvPr id="556" name="Google Shape;556;p35"/>
          <p:cNvSpPr txBox="1"/>
          <p:nvPr/>
        </p:nvSpPr>
        <p:spPr>
          <a:xfrm>
            <a:off x="9144000" y="42702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single-seasonality limit</a:t>
            </a:r>
            <a:endParaRPr/>
          </a:p>
        </p:txBody>
      </p:sp>
      <p:sp>
        <p:nvSpPr>
          <p:cNvPr id="557" name="Google Shape;557;p35"/>
          <p:cNvSpPr/>
          <p:nvPr/>
        </p:nvSpPr>
        <p:spPr>
          <a:xfrm>
            <a:off x="548640" y="4617720"/>
            <a:ext cx="11064240" cy="4855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8" name="Google Shape;558;p35"/>
          <p:cNvSpPr txBox="1"/>
          <p:nvPr/>
        </p:nvSpPr>
        <p:spPr>
          <a:xfrm>
            <a:off x="82296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ML-with-lags</a:t>
            </a:r>
            <a:endParaRPr/>
          </a:p>
        </p:txBody>
      </p:sp>
      <p:sp>
        <p:nvSpPr>
          <p:cNvPr id="559" name="Google Shape;559;p35"/>
          <p:cNvSpPr txBox="1"/>
          <p:nvPr/>
        </p:nvSpPr>
        <p:spPr>
          <a:xfrm>
            <a:off x="320040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Multi-seasonal data</a:t>
            </a:r>
            <a:endParaRPr/>
          </a:p>
        </p:txBody>
      </p:sp>
      <p:sp>
        <p:nvSpPr>
          <p:cNvPr id="560" name="Google Shape;560;p35"/>
          <p:cNvSpPr txBox="1"/>
          <p:nvPr/>
        </p:nvSpPr>
        <p:spPr>
          <a:xfrm>
            <a:off x="640080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Same toolkit as L04</a:t>
            </a:r>
            <a:endParaRPr/>
          </a:p>
        </p:txBody>
      </p:sp>
      <p:sp>
        <p:nvSpPr>
          <p:cNvPr id="561" name="Google Shape;561;p35"/>
          <p:cNvSpPr txBox="1"/>
          <p:nvPr/>
        </p:nvSpPr>
        <p:spPr>
          <a:xfrm>
            <a:off x="9144000" y="47274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Recursive forecast errors compound</a:t>
            </a:r>
            <a:endParaRPr/>
          </a:p>
        </p:txBody>
      </p:sp>
      <p:sp>
        <p:nvSpPr>
          <p:cNvPr id="562" name="Google Shape;562;p35"/>
          <p:cNvSpPr/>
          <p:nvPr/>
        </p:nvSpPr>
        <p:spPr>
          <a:xfrm>
            <a:off x="548640" y="5074920"/>
            <a:ext cx="11064240" cy="48554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p35"/>
          <p:cNvSpPr txBox="1"/>
          <p:nvPr/>
        </p:nvSpPr>
        <p:spPr>
          <a:xfrm>
            <a:off x="82296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Prophet (Ext)</a:t>
            </a:r>
            <a:endParaRPr/>
          </a:p>
        </p:txBody>
      </p:sp>
      <p:sp>
        <p:nvSpPr>
          <p:cNvPr id="564" name="Google Shape;564;p35"/>
          <p:cNvSpPr txBox="1"/>
          <p:nvPr/>
        </p:nvSpPr>
        <p:spPr>
          <a:xfrm>
            <a:off x="320040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Multi-seasonal + holidays</a:t>
            </a:r>
            <a:endParaRPr/>
          </a:p>
        </p:txBody>
      </p:sp>
      <p:sp>
        <p:nvSpPr>
          <p:cNvPr id="565" name="Google Shape;565;p35"/>
          <p:cNvSpPr txBox="1"/>
          <p:nvPr/>
        </p:nvSpPr>
        <p:spPr>
          <a:xfrm>
            <a:off x="640080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Easy API</a:t>
            </a:r>
            <a:endParaRPr/>
          </a:p>
        </p:txBody>
      </p:sp>
      <p:sp>
        <p:nvSpPr>
          <p:cNvPr id="566" name="Google Shape;566;p35"/>
          <p:cNvSpPr txBox="1"/>
          <p:nvPr/>
        </p:nvSpPr>
        <p:spPr>
          <a:xfrm>
            <a:off x="9144000" y="518464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Heavier dependency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0" name="Google Shape;640;p3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1" name="Google Shape;641;p3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Quick Reference</a:t>
            </a:r>
            <a:endParaRPr/>
          </a:p>
        </p:txBody>
      </p:sp>
      <p:sp>
        <p:nvSpPr>
          <p:cNvPr id="642" name="Google Shape;642;p38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5 rules of thumb for time-series forecasting</a:t>
            </a:r>
            <a:endParaRPr/>
          </a:p>
        </p:txBody>
      </p:sp>
      <p:sp>
        <p:nvSpPr>
          <p:cNvPr id="643" name="Google Shape;643;p38"/>
          <p:cNvSpPr/>
          <p:nvPr/>
        </p:nvSpPr>
        <p:spPr>
          <a:xfrm>
            <a:off x="548640" y="2011680"/>
            <a:ext cx="11064240" cy="75529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4" name="Google Shape;644;p38"/>
          <p:cNvSpPr txBox="1"/>
          <p:nvPr/>
        </p:nvSpPr>
        <p:spPr>
          <a:xfrm>
            <a:off x="777240" y="2194560"/>
            <a:ext cx="10698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1.  Time-series cross-validation only — NEVER KFold</a:t>
            </a:r>
            <a:endParaRPr/>
          </a:p>
        </p:txBody>
      </p:sp>
      <p:sp>
        <p:nvSpPr>
          <p:cNvPr id="645" name="Google Shape;645;p38"/>
          <p:cNvSpPr/>
          <p:nvPr/>
        </p:nvSpPr>
        <p:spPr>
          <a:xfrm>
            <a:off x="548640" y="2788920"/>
            <a:ext cx="11064240" cy="75529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6" name="Google Shape;646;p38"/>
          <p:cNvSpPr txBox="1"/>
          <p:nvPr/>
        </p:nvSpPr>
        <p:spPr>
          <a:xfrm>
            <a:off x="777240" y="2971800"/>
            <a:ext cx="10698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2.  ALWAYS start with at least one trivial baseline (Naive / Seasonal Naive)</a:t>
            </a:r>
            <a:endParaRPr/>
          </a:p>
        </p:txBody>
      </p:sp>
      <p:sp>
        <p:nvSpPr>
          <p:cNvPr id="647" name="Google Shape;647;p38"/>
          <p:cNvSpPr/>
          <p:nvPr/>
        </p:nvSpPr>
        <p:spPr>
          <a:xfrm>
            <a:off x="548640" y="3566160"/>
            <a:ext cx="11064240" cy="75529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" name="Google Shape;648;p38"/>
          <p:cNvSpPr txBox="1"/>
          <p:nvPr/>
        </p:nvSpPr>
        <p:spPr>
          <a:xfrm>
            <a:off x="777240" y="3749040"/>
            <a:ext cx="10698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3.  Match the seasonal period to your DOMINANT cycle (period=7 for daily, period=12 for monthly)</a:t>
            </a:r>
            <a:endParaRPr/>
          </a:p>
        </p:txBody>
      </p:sp>
      <p:sp>
        <p:nvSpPr>
          <p:cNvPr id="649" name="Google Shape;649;p38"/>
          <p:cNvSpPr/>
          <p:nvPr/>
        </p:nvSpPr>
        <p:spPr>
          <a:xfrm>
            <a:off x="548640" y="4343400"/>
            <a:ext cx="11064240" cy="75529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0" name="Google Shape;650;p38"/>
          <p:cNvSpPr txBox="1"/>
          <p:nvPr/>
        </p:nvSpPr>
        <p:spPr>
          <a:xfrm>
            <a:off x="777240" y="4526280"/>
            <a:ext cx="10698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4.  For multi-seasonal data → ML-with-lags or Prophet, not single-period ETS/ARIMA</a:t>
            </a:r>
            <a:endParaRPr/>
          </a:p>
        </p:txBody>
      </p:sp>
      <p:sp>
        <p:nvSpPr>
          <p:cNvPr id="651" name="Google Shape;651;p38"/>
          <p:cNvSpPr/>
          <p:nvPr/>
        </p:nvSpPr>
        <p:spPr>
          <a:xfrm>
            <a:off x="548640" y="5120640"/>
            <a:ext cx="11064240" cy="75529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2" name="Google Shape;652;p38"/>
          <p:cNvSpPr txBox="1"/>
          <p:nvPr/>
        </p:nvSpPr>
        <p:spPr>
          <a:xfrm>
            <a:off x="777240" y="5303520"/>
            <a:ext cx="106984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5.  Report MAE + MAPE at minimum; report multiple test windows when possible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3" name="Google Shape;603;p3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4" name="Google Shape;604;p3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Where Time-Series Forecasting Lives</a:t>
            </a:r>
            <a:endParaRPr/>
          </a:p>
        </p:txBody>
      </p:sp>
      <p:sp>
        <p:nvSpPr>
          <p:cNvPr id="605" name="Google Shape;605;p37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Industry applications</a:t>
            </a:r>
            <a:endParaRPr/>
          </a:p>
        </p:txBody>
      </p:sp>
      <p:sp>
        <p:nvSpPr>
          <p:cNvPr id="606" name="Google Shape;606;p37"/>
          <p:cNvSpPr/>
          <p:nvPr/>
        </p:nvSpPr>
        <p:spPr>
          <a:xfrm>
            <a:off x="548640" y="1783080"/>
            <a:ext cx="3200400" cy="59344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7" name="Google Shape;607;p37"/>
          <p:cNvSpPr txBox="1"/>
          <p:nvPr/>
        </p:nvSpPr>
        <p:spPr>
          <a:xfrm>
            <a:off x="777240" y="1920240"/>
            <a:ext cx="30175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📈 Retail / E-commerce</a:t>
            </a:r>
            <a:endParaRPr/>
          </a:p>
        </p:txBody>
      </p:sp>
      <p:sp>
        <p:nvSpPr>
          <p:cNvPr id="608" name="Google Shape;608;p37"/>
          <p:cNvSpPr/>
          <p:nvPr/>
        </p:nvSpPr>
        <p:spPr>
          <a:xfrm>
            <a:off x="3794760" y="1783080"/>
            <a:ext cx="781812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37"/>
          <p:cNvSpPr txBox="1"/>
          <p:nvPr/>
        </p:nvSpPr>
        <p:spPr>
          <a:xfrm>
            <a:off x="4023360" y="1920240"/>
            <a:ext cx="7498079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Revenue, demand, inventory planning</a:t>
            </a:r>
            <a:endParaRPr/>
          </a:p>
        </p:txBody>
      </p:sp>
      <p:sp>
        <p:nvSpPr>
          <p:cNvPr id="610" name="Google Shape;610;p37"/>
          <p:cNvSpPr/>
          <p:nvPr/>
        </p:nvSpPr>
        <p:spPr>
          <a:xfrm>
            <a:off x="548640" y="2377440"/>
            <a:ext cx="3200400" cy="59344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1" name="Google Shape;611;p37"/>
          <p:cNvSpPr txBox="1"/>
          <p:nvPr/>
        </p:nvSpPr>
        <p:spPr>
          <a:xfrm>
            <a:off x="777240" y="2514600"/>
            <a:ext cx="30175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⚡ Energy</a:t>
            </a:r>
            <a:endParaRPr/>
          </a:p>
        </p:txBody>
      </p:sp>
      <p:sp>
        <p:nvSpPr>
          <p:cNvPr id="612" name="Google Shape;612;p37"/>
          <p:cNvSpPr/>
          <p:nvPr/>
        </p:nvSpPr>
        <p:spPr>
          <a:xfrm>
            <a:off x="3794760" y="2377440"/>
            <a:ext cx="781812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3" name="Google Shape;613;p37"/>
          <p:cNvSpPr txBox="1"/>
          <p:nvPr/>
        </p:nvSpPr>
        <p:spPr>
          <a:xfrm>
            <a:off x="4023360" y="2514600"/>
            <a:ext cx="7498079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Electricity / gas demand, renewables</a:t>
            </a:r>
            <a:endParaRPr/>
          </a:p>
        </p:txBody>
      </p:sp>
      <p:sp>
        <p:nvSpPr>
          <p:cNvPr id="614" name="Google Shape;614;p37"/>
          <p:cNvSpPr/>
          <p:nvPr/>
        </p:nvSpPr>
        <p:spPr>
          <a:xfrm>
            <a:off x="548640" y="2971800"/>
            <a:ext cx="3200400" cy="59344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5" name="Google Shape;615;p37"/>
          <p:cNvSpPr txBox="1"/>
          <p:nvPr/>
        </p:nvSpPr>
        <p:spPr>
          <a:xfrm>
            <a:off x="777240" y="3108960"/>
            <a:ext cx="30175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💸 Finance</a:t>
            </a:r>
            <a:endParaRPr/>
          </a:p>
        </p:txBody>
      </p:sp>
      <p:sp>
        <p:nvSpPr>
          <p:cNvPr id="616" name="Google Shape;616;p37"/>
          <p:cNvSpPr/>
          <p:nvPr/>
        </p:nvSpPr>
        <p:spPr>
          <a:xfrm>
            <a:off x="3794760" y="2971800"/>
            <a:ext cx="781812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7" name="Google Shape;617;p37"/>
          <p:cNvSpPr txBox="1"/>
          <p:nvPr/>
        </p:nvSpPr>
        <p:spPr>
          <a:xfrm>
            <a:off x="4023360" y="3108960"/>
            <a:ext cx="7498079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Stock returns, FX, risk metrics, capital planning</a:t>
            </a:r>
            <a:endParaRPr/>
          </a:p>
        </p:txBody>
      </p:sp>
      <p:sp>
        <p:nvSpPr>
          <p:cNvPr id="618" name="Google Shape;618;p37"/>
          <p:cNvSpPr/>
          <p:nvPr/>
        </p:nvSpPr>
        <p:spPr>
          <a:xfrm>
            <a:off x="548640" y="3566160"/>
            <a:ext cx="3200400" cy="59344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37"/>
          <p:cNvSpPr txBox="1"/>
          <p:nvPr/>
        </p:nvSpPr>
        <p:spPr>
          <a:xfrm>
            <a:off x="777240" y="3703320"/>
            <a:ext cx="30175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🚛 Supply chain</a:t>
            </a:r>
            <a:endParaRPr/>
          </a:p>
        </p:txBody>
      </p:sp>
      <p:sp>
        <p:nvSpPr>
          <p:cNvPr id="620" name="Google Shape;620;p37"/>
          <p:cNvSpPr/>
          <p:nvPr/>
        </p:nvSpPr>
        <p:spPr>
          <a:xfrm>
            <a:off x="3794760" y="3566160"/>
            <a:ext cx="781812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1" name="Google Shape;621;p37"/>
          <p:cNvSpPr txBox="1"/>
          <p:nvPr/>
        </p:nvSpPr>
        <p:spPr>
          <a:xfrm>
            <a:off x="4023360" y="3703320"/>
            <a:ext cx="7498079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Demand forecasting, inventory optimisation</a:t>
            </a:r>
            <a:endParaRPr/>
          </a:p>
        </p:txBody>
      </p:sp>
      <p:sp>
        <p:nvSpPr>
          <p:cNvPr id="622" name="Google Shape;622;p37"/>
          <p:cNvSpPr/>
          <p:nvPr/>
        </p:nvSpPr>
        <p:spPr>
          <a:xfrm>
            <a:off x="548640" y="4160520"/>
            <a:ext cx="3200400" cy="59344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3" name="Google Shape;623;p37"/>
          <p:cNvSpPr txBox="1"/>
          <p:nvPr/>
        </p:nvSpPr>
        <p:spPr>
          <a:xfrm>
            <a:off x="777240" y="4297680"/>
            <a:ext cx="30175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🏥 Healthcare</a:t>
            </a:r>
            <a:endParaRPr/>
          </a:p>
        </p:txBody>
      </p:sp>
      <p:sp>
        <p:nvSpPr>
          <p:cNvPr id="624" name="Google Shape;624;p37"/>
          <p:cNvSpPr/>
          <p:nvPr/>
        </p:nvSpPr>
        <p:spPr>
          <a:xfrm>
            <a:off x="3794760" y="4160520"/>
            <a:ext cx="781812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5" name="Google Shape;625;p37"/>
          <p:cNvSpPr txBox="1"/>
          <p:nvPr/>
        </p:nvSpPr>
        <p:spPr>
          <a:xfrm>
            <a:off x="4023360" y="4297680"/>
            <a:ext cx="7498079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ED admissions, ICU bed demand</a:t>
            </a:r>
            <a:endParaRPr/>
          </a:p>
        </p:txBody>
      </p:sp>
      <p:sp>
        <p:nvSpPr>
          <p:cNvPr id="626" name="Google Shape;626;p37"/>
          <p:cNvSpPr/>
          <p:nvPr/>
        </p:nvSpPr>
        <p:spPr>
          <a:xfrm>
            <a:off x="548640" y="4754880"/>
            <a:ext cx="3200400" cy="59344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p37"/>
          <p:cNvSpPr txBox="1"/>
          <p:nvPr/>
        </p:nvSpPr>
        <p:spPr>
          <a:xfrm>
            <a:off x="777240" y="4892040"/>
            <a:ext cx="30175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🌐 Tech / SaaS</a:t>
            </a:r>
            <a:endParaRPr/>
          </a:p>
        </p:txBody>
      </p:sp>
      <p:sp>
        <p:nvSpPr>
          <p:cNvPr id="628" name="Google Shape;628;p37"/>
          <p:cNvSpPr/>
          <p:nvPr/>
        </p:nvSpPr>
        <p:spPr>
          <a:xfrm>
            <a:off x="3794760" y="4754880"/>
            <a:ext cx="781812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9" name="Google Shape;629;p37"/>
          <p:cNvSpPr txBox="1"/>
          <p:nvPr/>
        </p:nvSpPr>
        <p:spPr>
          <a:xfrm>
            <a:off x="4023360" y="4892040"/>
            <a:ext cx="7498079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MAU/DAU, conversion rate trends</a:t>
            </a:r>
            <a:endParaRPr/>
          </a:p>
        </p:txBody>
      </p:sp>
      <p:sp>
        <p:nvSpPr>
          <p:cNvPr id="630" name="Google Shape;630;p37"/>
          <p:cNvSpPr/>
          <p:nvPr/>
        </p:nvSpPr>
        <p:spPr>
          <a:xfrm>
            <a:off x="548640" y="5349240"/>
            <a:ext cx="3200400" cy="59344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1" name="Google Shape;631;p37"/>
          <p:cNvSpPr txBox="1"/>
          <p:nvPr/>
        </p:nvSpPr>
        <p:spPr>
          <a:xfrm>
            <a:off x="777240" y="5486400"/>
            <a:ext cx="30175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☁ Cloud / DevOps</a:t>
            </a:r>
            <a:endParaRPr/>
          </a:p>
        </p:txBody>
      </p:sp>
      <p:sp>
        <p:nvSpPr>
          <p:cNvPr id="632" name="Google Shape;632;p37"/>
          <p:cNvSpPr/>
          <p:nvPr/>
        </p:nvSpPr>
        <p:spPr>
          <a:xfrm>
            <a:off x="3794760" y="5349240"/>
            <a:ext cx="7818120" cy="59344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3" name="Google Shape;633;p37"/>
          <p:cNvSpPr txBox="1"/>
          <p:nvPr/>
        </p:nvSpPr>
        <p:spPr>
          <a:xfrm>
            <a:off x="4023360" y="5486400"/>
            <a:ext cx="7498079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Server load, traffic, capacity planning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8" name="Google Shape;698;p4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4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Where to From Here</a:t>
            </a:r>
            <a:endParaRPr/>
          </a:p>
        </p:txBody>
      </p:sp>
      <p:sp>
        <p:nvSpPr>
          <p:cNvPr id="700" name="Google Shape;700;p40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forecasting arc beyond L06</a:t>
            </a:r>
            <a:endParaRPr/>
          </a:p>
        </p:txBody>
      </p:sp>
      <p:sp>
        <p:nvSpPr>
          <p:cNvPr id="701" name="Google Shape;701;p40"/>
          <p:cNvSpPr/>
          <p:nvPr/>
        </p:nvSpPr>
        <p:spPr>
          <a:xfrm>
            <a:off x="548640" y="1874519"/>
            <a:ext cx="274320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2" name="Google Shape;702;p40"/>
          <p:cNvSpPr txBox="1"/>
          <p:nvPr/>
        </p:nvSpPr>
        <p:spPr>
          <a:xfrm>
            <a:off x="777240" y="2057399"/>
            <a:ext cx="237744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Hierarchical forecasting</a:t>
            </a:r>
            <a:endParaRPr/>
          </a:p>
        </p:txBody>
      </p:sp>
      <p:sp>
        <p:nvSpPr>
          <p:cNvPr id="703" name="Google Shape;703;p40"/>
          <p:cNvSpPr txBox="1"/>
          <p:nvPr/>
        </p:nvSpPr>
        <p:spPr>
          <a:xfrm>
            <a:off x="777240" y="2514599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Reconcile</a:t>
            </a:r>
            <a:endParaRPr/>
          </a:p>
        </p:txBody>
      </p:sp>
      <p:sp>
        <p:nvSpPr>
          <p:cNvPr id="704" name="Google Shape;704;p40"/>
          <p:cNvSpPr/>
          <p:nvPr/>
        </p:nvSpPr>
        <p:spPr>
          <a:xfrm>
            <a:off x="3337560" y="1874519"/>
            <a:ext cx="827532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3566160" y="2148839"/>
            <a:ext cx="790956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Forecasts that ROLL UP — country → region → store. Reconciled across levels.</a:t>
            </a:r>
            <a:endParaRPr/>
          </a:p>
        </p:txBody>
      </p:sp>
      <p:sp>
        <p:nvSpPr>
          <p:cNvPr id="706" name="Google Shape;706;p40"/>
          <p:cNvSpPr/>
          <p:nvPr/>
        </p:nvSpPr>
        <p:spPr>
          <a:xfrm>
            <a:off x="548640" y="3291839"/>
            <a:ext cx="274320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40"/>
          <p:cNvSpPr txBox="1"/>
          <p:nvPr/>
        </p:nvSpPr>
        <p:spPr>
          <a:xfrm>
            <a:off x="777240" y="3474719"/>
            <a:ext cx="237744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Probabilistic forecasting</a:t>
            </a:r>
            <a:endParaRPr/>
          </a:p>
        </p:txBody>
      </p:sp>
      <p:sp>
        <p:nvSpPr>
          <p:cNvPr id="708" name="Google Shape;708;p40"/>
          <p:cNvSpPr txBox="1"/>
          <p:nvPr/>
        </p:nvSpPr>
        <p:spPr>
          <a:xfrm>
            <a:off x="777240" y="3931919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Quantiles</a:t>
            </a:r>
            <a:endParaRPr/>
          </a:p>
        </p:txBody>
      </p:sp>
      <p:sp>
        <p:nvSpPr>
          <p:cNvPr id="709" name="Google Shape;709;p40"/>
          <p:cNvSpPr/>
          <p:nvPr/>
        </p:nvSpPr>
        <p:spPr>
          <a:xfrm>
            <a:off x="3337560" y="3291839"/>
            <a:ext cx="827532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" name="Google Shape;710;p40"/>
          <p:cNvSpPr txBox="1"/>
          <p:nvPr/>
        </p:nvSpPr>
        <p:spPr>
          <a:xfrm>
            <a:off x="3566160" y="3566159"/>
            <a:ext cx="790956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 the full DISTRIBUTION, not just the point. Useful for risk + capacity.</a:t>
            </a:r>
            <a:endParaRPr/>
          </a:p>
        </p:txBody>
      </p:sp>
      <p:sp>
        <p:nvSpPr>
          <p:cNvPr id="711" name="Google Shape;711;p40"/>
          <p:cNvSpPr/>
          <p:nvPr/>
        </p:nvSpPr>
        <p:spPr>
          <a:xfrm>
            <a:off x="548640" y="4709160"/>
            <a:ext cx="274320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2" name="Google Shape;712;p40"/>
          <p:cNvSpPr txBox="1"/>
          <p:nvPr/>
        </p:nvSpPr>
        <p:spPr>
          <a:xfrm>
            <a:off x="777240" y="4892040"/>
            <a:ext cx="237744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Deep learning (L07+)</a:t>
            </a:r>
            <a:endParaRPr/>
          </a:p>
        </p:txBody>
      </p:sp>
      <p:sp>
        <p:nvSpPr>
          <p:cNvPr id="713" name="Google Shape;713;p40"/>
          <p:cNvSpPr txBox="1"/>
          <p:nvPr/>
        </p:nvSpPr>
        <p:spPr>
          <a:xfrm>
            <a:off x="777240" y="534924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RNN / TCN</a:t>
            </a:r>
            <a:endParaRPr/>
          </a:p>
        </p:txBody>
      </p:sp>
      <p:sp>
        <p:nvSpPr>
          <p:cNvPr id="714" name="Google Shape;714;p40"/>
          <p:cNvSpPr/>
          <p:nvPr/>
        </p:nvSpPr>
        <p:spPr>
          <a:xfrm>
            <a:off x="3337560" y="4709160"/>
            <a:ext cx="827532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5" name="Google Shape;715;p40"/>
          <p:cNvSpPr txBox="1"/>
          <p:nvPr/>
        </p:nvSpPr>
        <p:spPr>
          <a:xfrm>
            <a:off x="3566160" y="4983480"/>
            <a:ext cx="790956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End-to-end neural nets — useful for very long, irregular, multivariate sequences.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4" name="Google Shape;574;p36"/>
          <p:cNvSpPr txBox="1"/>
          <p:nvPr/>
        </p:nvSpPr>
        <p:spPr>
          <a:xfrm>
            <a:off x="731520" y="731520"/>
            <a:ext cx="10698480" cy="75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L06 — Recap</a:t>
            </a:r>
            <a:endParaRPr/>
          </a:p>
        </p:txBody>
      </p:sp>
      <p:sp>
        <p:nvSpPr>
          <p:cNvPr id="575" name="Google Shape;575;p36"/>
          <p:cNvSpPr txBox="1"/>
          <p:nvPr/>
        </p:nvSpPr>
        <p:spPr>
          <a:xfrm>
            <a:off x="731520" y="18288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Sarah's journey so far</a:t>
            </a:r>
            <a:endParaRPr/>
          </a:p>
        </p:txBody>
      </p:sp>
      <p:sp>
        <p:nvSpPr>
          <p:cNvPr id="576" name="Google Shape;576;p36"/>
          <p:cNvSpPr txBox="1"/>
          <p:nvPr/>
        </p:nvSpPr>
        <p:spPr>
          <a:xfrm>
            <a:off x="731520" y="2468880"/>
            <a:ext cx="9144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L01</a:t>
            </a:r>
            <a:endParaRPr/>
          </a:p>
        </p:txBody>
      </p:sp>
      <p:sp>
        <p:nvSpPr>
          <p:cNvPr id="577" name="Google Shape;577;p36"/>
          <p:cNvSpPr txBox="1"/>
          <p:nvPr/>
        </p:nvSpPr>
        <p:spPr>
          <a:xfrm>
            <a:off x="1737360" y="2468880"/>
            <a:ext cx="68580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Pre-trained sentiment model</a:t>
            </a:r>
            <a:endParaRPr/>
          </a:p>
        </p:txBody>
      </p:sp>
      <p:sp>
        <p:nvSpPr>
          <p:cNvPr id="578" name="Google Shape;578;p36"/>
          <p:cNvSpPr txBox="1"/>
          <p:nvPr/>
        </p:nvSpPr>
        <p:spPr>
          <a:xfrm>
            <a:off x="8686800" y="2468880"/>
            <a:ext cx="2926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'how sure are we?'</a:t>
            </a:r>
            <a:endParaRPr/>
          </a:p>
        </p:txBody>
      </p:sp>
      <p:sp>
        <p:nvSpPr>
          <p:cNvPr id="579" name="Google Shape;579;p36"/>
          <p:cNvSpPr txBox="1"/>
          <p:nvPr/>
        </p:nvSpPr>
        <p:spPr>
          <a:xfrm>
            <a:off x="731520" y="2971800"/>
            <a:ext cx="9144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L02</a:t>
            </a:r>
            <a:endParaRPr/>
          </a:p>
        </p:txBody>
      </p:sp>
      <p:sp>
        <p:nvSpPr>
          <p:cNvPr id="580" name="Google Shape;580;p36"/>
          <p:cNvSpPr txBox="1"/>
          <p:nvPr/>
        </p:nvSpPr>
        <p:spPr>
          <a:xfrm>
            <a:off x="1737360" y="2971800"/>
            <a:ext cx="68580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Confidence intervals + A/B</a:t>
            </a:r>
            <a:endParaRPr/>
          </a:p>
        </p:txBody>
      </p:sp>
      <p:sp>
        <p:nvSpPr>
          <p:cNvPr id="581" name="Google Shape;581;p36"/>
          <p:cNvSpPr txBox="1"/>
          <p:nvPr/>
        </p:nvSpPr>
        <p:spPr>
          <a:xfrm>
            <a:off x="8686800" y="2971800"/>
            <a:ext cx="2926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'train your own?'</a:t>
            </a:r>
            <a:endParaRPr/>
          </a:p>
        </p:txBody>
      </p:sp>
      <p:sp>
        <p:nvSpPr>
          <p:cNvPr id="582" name="Google Shape;582;p36"/>
          <p:cNvSpPr txBox="1"/>
          <p:nvPr/>
        </p:nvSpPr>
        <p:spPr>
          <a:xfrm>
            <a:off x="731520" y="3474720"/>
            <a:ext cx="9144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L03</a:t>
            </a:r>
            <a:endParaRPr/>
          </a:p>
        </p:txBody>
      </p:sp>
      <p:sp>
        <p:nvSpPr>
          <p:cNvPr id="583" name="Google Shape;583;p36"/>
          <p:cNvSpPr txBox="1"/>
          <p:nvPr/>
        </p:nvSpPr>
        <p:spPr>
          <a:xfrm>
            <a:off x="1737360" y="3474720"/>
            <a:ext cx="68580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 + threshold</a:t>
            </a:r>
            <a:endParaRPr/>
          </a:p>
        </p:txBody>
      </p:sp>
      <p:sp>
        <p:nvSpPr>
          <p:cNvPr id="584" name="Google Shape;584;p36"/>
          <p:cNvSpPr txBox="1"/>
          <p:nvPr/>
        </p:nvSpPr>
        <p:spPr>
          <a:xfrm>
            <a:off x="8686800" y="3474720"/>
            <a:ext cx="2926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'make it better?'</a:t>
            </a:r>
            <a:endParaRPr/>
          </a:p>
        </p:txBody>
      </p:sp>
      <p:sp>
        <p:nvSpPr>
          <p:cNvPr id="585" name="Google Shape;585;p36"/>
          <p:cNvSpPr txBox="1"/>
          <p:nvPr/>
        </p:nvSpPr>
        <p:spPr>
          <a:xfrm>
            <a:off x="731520" y="3977640"/>
            <a:ext cx="9144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L04</a:t>
            </a:r>
            <a:endParaRPr/>
          </a:p>
        </p:txBody>
      </p:sp>
      <p:sp>
        <p:nvSpPr>
          <p:cNvPr id="586" name="Google Shape;586;p36"/>
          <p:cNvSpPr txBox="1"/>
          <p:nvPr/>
        </p:nvSpPr>
        <p:spPr>
          <a:xfrm>
            <a:off x="1737360" y="3977640"/>
            <a:ext cx="68580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Random Forest + Gradient Boost</a:t>
            </a:r>
            <a:endParaRPr/>
          </a:p>
        </p:txBody>
      </p:sp>
      <p:sp>
        <p:nvSpPr>
          <p:cNvPr id="587" name="Google Shape;587;p36"/>
          <p:cNvSpPr txBox="1"/>
          <p:nvPr/>
        </p:nvSpPr>
        <p:spPr>
          <a:xfrm>
            <a:off x="8686800" y="3977640"/>
            <a:ext cx="2926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'cluster customers?'</a:t>
            </a:r>
            <a:endParaRPr/>
          </a:p>
        </p:txBody>
      </p:sp>
      <p:sp>
        <p:nvSpPr>
          <p:cNvPr id="588" name="Google Shape;588;p36"/>
          <p:cNvSpPr txBox="1"/>
          <p:nvPr/>
        </p:nvSpPr>
        <p:spPr>
          <a:xfrm>
            <a:off x="731520" y="4480560"/>
            <a:ext cx="9144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L05</a:t>
            </a:r>
            <a:endParaRPr/>
          </a:p>
        </p:txBody>
      </p:sp>
      <p:sp>
        <p:nvSpPr>
          <p:cNvPr id="589" name="Google Shape;589;p36"/>
          <p:cNvSpPr txBox="1"/>
          <p:nvPr/>
        </p:nvSpPr>
        <p:spPr>
          <a:xfrm>
            <a:off x="1737360" y="4480560"/>
            <a:ext cx="68580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PCA + K-Means + Isolation Forest</a:t>
            </a:r>
            <a:endParaRPr/>
          </a:p>
        </p:txBody>
      </p:sp>
      <p:sp>
        <p:nvSpPr>
          <p:cNvPr id="590" name="Google Shape;590;p36"/>
          <p:cNvSpPr txBox="1"/>
          <p:nvPr/>
        </p:nvSpPr>
        <p:spPr>
          <a:xfrm>
            <a:off x="8686800" y="4480560"/>
            <a:ext cx="2926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'forecast revenue?'</a:t>
            </a:r>
            <a:endParaRPr/>
          </a:p>
        </p:txBody>
      </p:sp>
      <p:sp>
        <p:nvSpPr>
          <p:cNvPr id="591" name="Google Shape;591;p36"/>
          <p:cNvSpPr txBox="1"/>
          <p:nvPr/>
        </p:nvSpPr>
        <p:spPr>
          <a:xfrm>
            <a:off x="731520" y="4983480"/>
            <a:ext cx="9144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L06</a:t>
            </a:r>
            <a:endParaRPr/>
          </a:p>
        </p:txBody>
      </p:sp>
      <p:sp>
        <p:nvSpPr>
          <p:cNvPr id="592" name="Google Shape;592;p36"/>
          <p:cNvSpPr txBox="1"/>
          <p:nvPr/>
        </p:nvSpPr>
        <p:spPr>
          <a:xfrm>
            <a:off x="1737360" y="4983480"/>
            <a:ext cx="68580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STL + ETS + ML-with-lags</a:t>
            </a:r>
            <a:endParaRPr/>
          </a:p>
        </p:txBody>
      </p:sp>
      <p:sp>
        <p:nvSpPr>
          <p:cNvPr id="593" name="Google Shape;593;p36"/>
          <p:cNvSpPr txBox="1"/>
          <p:nvPr/>
        </p:nvSpPr>
        <p:spPr>
          <a:xfrm>
            <a:off x="8686800" y="4983480"/>
            <a:ext cx="2926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→ 'predict from sequential behaviour?'</a:t>
            </a:r>
            <a:endParaRPr/>
          </a:p>
        </p:txBody>
      </p:sp>
      <p:sp>
        <p:nvSpPr>
          <p:cNvPr id="594" name="Google Shape;594;p36"/>
          <p:cNvSpPr txBox="1"/>
          <p:nvPr/>
        </p:nvSpPr>
        <p:spPr>
          <a:xfrm>
            <a:off x="731520" y="5486400"/>
            <a:ext cx="9144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L07</a:t>
            </a:r>
            <a:endParaRPr/>
          </a:p>
        </p:txBody>
      </p:sp>
      <p:sp>
        <p:nvSpPr>
          <p:cNvPr id="595" name="Google Shape;595;p36"/>
          <p:cNvSpPr txBox="1"/>
          <p:nvPr/>
        </p:nvSpPr>
        <p:spPr>
          <a:xfrm>
            <a:off x="1737360" y="5486400"/>
            <a:ext cx="68580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Neural Networks &amp; Deep Learning</a:t>
            </a:r>
            <a:endParaRPr/>
          </a:p>
        </p:txBody>
      </p:sp>
      <p:sp>
        <p:nvSpPr>
          <p:cNvPr id="596" name="Google Shape;596;p36"/>
          <p:cNvSpPr txBox="1"/>
          <p:nvPr/>
        </p:nvSpPr>
        <p:spPr>
          <a:xfrm>
            <a:off x="8686800" y="5486400"/>
            <a:ext cx="29260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Coming next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2" name="Google Shape;452;p32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Assignment Preview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Two domains · same toolkit</a:t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>
            <a:off x="548640" y="1783080"/>
            <a:ext cx="5486400" cy="53949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5" name="Google Shape;455;p32"/>
          <p:cNvSpPr txBox="1"/>
          <p:nvPr/>
        </p:nvSpPr>
        <p:spPr>
          <a:xfrm>
            <a:off x="777240" y="1920240"/>
            <a:ext cx="5029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Part A — UK Electricity</a:t>
            </a:r>
            <a:endParaRPr/>
          </a:p>
        </p:txBody>
      </p:sp>
      <p:sp>
        <p:nvSpPr>
          <p:cNvPr id="456" name="Google Shape;456;p32"/>
          <p:cNvSpPr txBox="1"/>
          <p:nvPr/>
        </p:nvSpPr>
        <p:spPr>
          <a:xfrm>
            <a:off x="914400" y="26060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2 years of daily demand data</a:t>
            </a:r>
            <a:endParaRPr/>
          </a:p>
        </p:txBody>
      </p:sp>
      <p:sp>
        <p:nvSpPr>
          <p:cNvPr id="457" name="Google Shape;457;p32"/>
          <p:cNvSpPr txBox="1"/>
          <p:nvPr/>
        </p:nvSpPr>
        <p:spPr>
          <a:xfrm>
            <a:off x="914400" y="30632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Strong annual + weekly cycles</a:t>
            </a:r>
            <a:endParaRPr/>
          </a:p>
        </p:txBody>
      </p:sp>
      <p:sp>
        <p:nvSpPr>
          <p:cNvPr id="458" name="Google Shape;458;p32"/>
          <p:cNvSpPr txBox="1"/>
          <p:nvPr/>
        </p:nvSpPr>
        <p:spPr>
          <a:xfrm>
            <a:off x="914400" y="35204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A1: STL decomposition</a:t>
            </a:r>
            <a:endParaRPr/>
          </a:p>
        </p:txBody>
      </p:sp>
      <p:sp>
        <p:nvSpPr>
          <p:cNvPr id="459" name="Google Shape;459;p32"/>
          <p:cNvSpPr txBox="1"/>
          <p:nvPr/>
        </p:nvSpPr>
        <p:spPr>
          <a:xfrm>
            <a:off x="914400" y="3977639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A2: ETS-weekly baseline</a:t>
            </a:r>
            <a:endParaRPr/>
          </a:p>
        </p:txBody>
      </p:sp>
      <p:sp>
        <p:nvSpPr>
          <p:cNvPr id="460" name="Google Shape;460;p32"/>
          <p:cNvSpPr txBox="1"/>
          <p:nvPr/>
        </p:nvSpPr>
        <p:spPr>
          <a:xfrm>
            <a:off x="914400" y="44348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A3: ML-with-lags</a:t>
            </a:r>
            <a:endParaRPr/>
          </a:p>
        </p:txBody>
      </p:sp>
      <p:sp>
        <p:nvSpPr>
          <p:cNvPr id="461" name="Google Shape;461;p32"/>
          <p:cNvSpPr txBox="1"/>
          <p:nvPr/>
        </p:nvSpPr>
        <p:spPr>
          <a:xfrm>
            <a:off x="914400" y="4892040"/>
            <a:ext cx="493776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A4: which wins and why</a:t>
            </a:r>
            <a:endParaRPr/>
          </a:p>
        </p:txBody>
      </p:sp>
      <p:sp>
        <p:nvSpPr>
          <p:cNvPr id="462" name="Google Shape;462;p32"/>
          <p:cNvSpPr/>
          <p:nvPr/>
        </p:nvSpPr>
        <p:spPr>
          <a:xfrm>
            <a:off x="6263640" y="1783080"/>
            <a:ext cx="5303520" cy="5394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p32"/>
          <p:cNvSpPr txBox="1"/>
          <p:nvPr/>
        </p:nvSpPr>
        <p:spPr>
          <a:xfrm>
            <a:off x="6537960" y="19202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Part B — Coffee Shop</a:t>
            </a:r>
            <a:endParaRPr/>
          </a:p>
        </p:txBody>
      </p:sp>
      <p:sp>
        <p:nvSpPr>
          <p:cNvPr id="464" name="Google Shape;464;p32"/>
          <p:cNvSpPr txBox="1"/>
          <p:nvPr/>
        </p:nvSpPr>
        <p:spPr>
          <a:xfrm>
            <a:off x="6675120" y="26060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18 months of daily customer count</a:t>
            </a:r>
            <a:endParaRPr/>
          </a:p>
        </p:txBody>
      </p:sp>
      <p:sp>
        <p:nvSpPr>
          <p:cNvPr id="465" name="Google Shape;465;p32"/>
          <p:cNvSpPr txBox="1"/>
          <p:nvPr/>
        </p:nvSpPr>
        <p:spPr>
          <a:xfrm>
            <a:off x="6675120" y="30632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Weekly seasonality only</a:t>
            </a:r>
            <a:endParaRPr/>
          </a:p>
        </p:txBody>
      </p:sp>
      <p:sp>
        <p:nvSpPr>
          <p:cNvPr id="466" name="Google Shape;466;p32"/>
          <p:cNvSpPr txBox="1"/>
          <p:nvPr/>
        </p:nvSpPr>
        <p:spPr>
          <a:xfrm>
            <a:off x="6675120" y="35204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B1: Seasonal Naive baseline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6675120" y="3977639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B2: pick any method to beat B1 by 5%</a:t>
            </a:r>
            <a:endParaRPr/>
          </a:p>
        </p:txBody>
      </p:sp>
      <p:sp>
        <p:nvSpPr>
          <p:cNvPr id="468" name="Google Shape;468;p32"/>
          <p:cNvSpPr txBox="1"/>
          <p:nvPr/>
        </p:nvSpPr>
        <p:spPr>
          <a:xfrm>
            <a:off x="6675120" y="44348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9" name="Google Shape;469;p32"/>
          <p:cNvSpPr txBox="1"/>
          <p:nvPr/>
        </p:nvSpPr>
        <p:spPr>
          <a:xfrm>
            <a:off x="6675120" y="4892040"/>
            <a:ext cx="457200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• Smaller data, noisier signal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Q&amp;A and What's Next</a:t>
            </a:r>
            <a:endParaRPr/>
          </a:p>
        </p:txBody>
      </p:sp>
      <p:sp>
        <p:nvSpPr>
          <p:cNvPr id="478" name="Google Shape;478;p33"/>
          <p:cNvSpPr txBox="1"/>
          <p:nvPr/>
        </p:nvSpPr>
        <p:spPr>
          <a:xfrm>
            <a:off x="548640" y="91440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Common questions + the path to L07</a:t>
            </a:r>
            <a:endParaRPr/>
          </a:p>
        </p:txBody>
      </p:sp>
      <p:sp>
        <p:nvSpPr>
          <p:cNvPr id="479" name="Google Shape;479;p33"/>
          <p:cNvSpPr/>
          <p:nvPr/>
        </p:nvSpPr>
        <p:spPr>
          <a:xfrm>
            <a:off x="548640" y="1783080"/>
            <a:ext cx="5486400" cy="53949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777240" y="1920240"/>
            <a:ext cx="50292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💬  Common questions</a:t>
            </a:r>
            <a:endParaRPr/>
          </a:p>
        </p:txBody>
      </p:sp>
      <p:sp>
        <p:nvSpPr>
          <p:cNvPr id="481" name="Google Shape;481;p33"/>
          <p:cNvSpPr txBox="1"/>
          <p:nvPr/>
        </p:nvSpPr>
        <p:spPr>
          <a:xfrm>
            <a:off x="914400" y="26060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How long a training history do I need?</a:t>
            </a:r>
            <a:endParaRPr/>
          </a:p>
        </p:txBody>
      </p:sp>
      <p:sp>
        <p:nvSpPr>
          <p:cNvPr id="482" name="Google Shape;482;p33"/>
          <p:cNvSpPr txBox="1"/>
          <p:nvPr/>
        </p:nvSpPr>
        <p:spPr>
          <a:xfrm>
            <a:off x="914400" y="30632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What if my data has gaps (missing days)?</a:t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914400" y="35204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How do I decide ETS-weekly vs ETS-annual?</a:t>
            </a:r>
            <a:endParaRPr/>
          </a:p>
        </p:txBody>
      </p:sp>
      <p:sp>
        <p:nvSpPr>
          <p:cNvPr id="484" name="Google Shape;484;p33"/>
          <p:cNvSpPr txBox="1"/>
          <p:nvPr/>
        </p:nvSpPr>
        <p:spPr>
          <a:xfrm>
            <a:off x="914400" y="3977639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When does Prophet beat ML-with-lags?</a:t>
            </a:r>
            <a:endParaRPr/>
          </a:p>
        </p:txBody>
      </p:sp>
      <p:sp>
        <p:nvSpPr>
          <p:cNvPr id="485" name="Google Shape;485;p33"/>
          <p:cNvSpPr txBox="1"/>
          <p:nvPr/>
        </p:nvSpPr>
        <p:spPr>
          <a:xfrm>
            <a:off x="914400" y="44348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• How do I forecast confidence intervals?</a:t>
            </a:r>
            <a:endParaRPr/>
          </a:p>
        </p:txBody>
      </p:sp>
      <p:sp>
        <p:nvSpPr>
          <p:cNvPr id="486" name="Google Shape;486;p33"/>
          <p:cNvSpPr/>
          <p:nvPr/>
        </p:nvSpPr>
        <p:spPr>
          <a:xfrm>
            <a:off x="6263640" y="1783080"/>
            <a:ext cx="5303520" cy="5394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7" name="Google Shape;487;p33"/>
          <p:cNvSpPr txBox="1"/>
          <p:nvPr/>
        </p:nvSpPr>
        <p:spPr>
          <a:xfrm>
            <a:off x="6537960" y="19202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📚  Going deeper</a:t>
            </a:r>
            <a:endParaRPr/>
          </a:p>
        </p:txBody>
      </p:sp>
      <p:sp>
        <p:nvSpPr>
          <p:cNvPr id="488" name="Google Shape;488;p33"/>
          <p:cNvSpPr txBox="1"/>
          <p:nvPr/>
        </p:nvSpPr>
        <p:spPr>
          <a:xfrm>
            <a:off x="6537960" y="26060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Optional notebook covers: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6537960" y="30632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· Stationarity tests (ADF)</a:t>
            </a:r>
            <a:endParaRPr/>
          </a:p>
        </p:txBody>
      </p:sp>
      <p:sp>
        <p:nvSpPr>
          <p:cNvPr id="490" name="Google Shape;490;p33"/>
          <p:cNvSpPr txBox="1"/>
          <p:nvPr/>
        </p:nvSpPr>
        <p:spPr>
          <a:xfrm>
            <a:off x="6537960" y="35204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· ACF and PACF interpretation</a:t>
            </a:r>
            <a:endParaRPr/>
          </a:p>
        </p:txBody>
      </p:sp>
      <p:sp>
        <p:nvSpPr>
          <p:cNvPr id="491" name="Google Shape;491;p33"/>
          <p:cNvSpPr txBox="1"/>
          <p:nvPr/>
        </p:nvSpPr>
        <p:spPr>
          <a:xfrm>
            <a:off x="6537960" y="3977639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· ARIMA + AutoARIMA</a:t>
            </a:r>
            <a:endParaRPr/>
          </a:p>
        </p:txBody>
      </p:sp>
      <p:sp>
        <p:nvSpPr>
          <p:cNvPr id="492" name="Google Shape;492;p33"/>
          <p:cNvSpPr txBox="1"/>
          <p:nvPr/>
        </p:nvSpPr>
        <p:spPr>
          <a:xfrm>
            <a:off x="6537960" y="44348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· SARIMA — seasonal ARIMA</a:t>
            </a:r>
            <a:endParaRPr/>
          </a:p>
        </p:txBody>
      </p:sp>
      <p:sp>
        <p:nvSpPr>
          <p:cNvPr id="493" name="Google Shape;493;p33"/>
          <p:cNvSpPr txBox="1"/>
          <p:nvPr/>
        </p:nvSpPr>
        <p:spPr>
          <a:xfrm>
            <a:off x="6537960" y="48920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  · Prophet (Facebook's library)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7" name="Google Shape;437;p31"/>
          <p:cNvSpPr txBox="1"/>
          <p:nvPr/>
        </p:nvSpPr>
        <p:spPr>
          <a:xfrm>
            <a:off x="731520" y="73152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Bridge to Lesson 7</a:t>
            </a:r>
            <a:endParaRPr/>
          </a:p>
        </p:txBody>
      </p:sp>
      <p:sp>
        <p:nvSpPr>
          <p:cNvPr id="438" name="Google Shape;438;p31"/>
          <p:cNvSpPr/>
          <p:nvPr/>
        </p:nvSpPr>
        <p:spPr>
          <a:xfrm>
            <a:off x="914400" y="1645920"/>
            <a:ext cx="10332720" cy="2805379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9" name="Google Shape;439;p31"/>
          <p:cNvSpPr txBox="1"/>
          <p:nvPr/>
        </p:nvSpPr>
        <p:spPr>
          <a:xfrm>
            <a:off x="1188720" y="1828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after the Friday presentation: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1188720" y="2286000"/>
            <a:ext cx="9784080" cy="183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"Great forecast. Now — if we collected DETAILED CUSTOMER BEHAVIOUR 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(every click, every page view, every cart event),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could you predict whether they'd complete checkout WHILE THEY'RE SHOPPING?"</a:t>
            </a:r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914400" y="429768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Lesson 7 — Neural Networks &amp; Deep Learning</a:t>
            </a:r>
            <a:endParaRPr/>
          </a:p>
        </p:txBody>
      </p:sp>
      <p:sp>
        <p:nvSpPr>
          <p:cNvPr id="442" name="Google Shape;442;p31"/>
          <p:cNvSpPr txBox="1"/>
          <p:nvPr/>
        </p:nvSpPr>
        <p:spPr>
          <a:xfrm>
            <a:off x="914400" y="480060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Perceptron → MLP · gradient descent · backpropagation · PyTorch</a:t>
            </a:r>
            <a:endParaRPr/>
          </a:p>
        </p:txBody>
      </p:sp>
      <p:sp>
        <p:nvSpPr>
          <p:cNvPr id="443" name="Google Shape;443;p31"/>
          <p:cNvSpPr txBox="1"/>
          <p:nvPr/>
        </p:nvSpPr>
        <p:spPr>
          <a:xfrm>
            <a:off x="914400" y="5349240"/>
            <a:ext cx="1033272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End-to-end learning from raw sequences. The path to deep learning.</a:t>
            </a:r>
            <a:endParaRPr/>
          </a:p>
        </p:txBody>
      </p:sp>
      <p:sp>
        <p:nvSpPr>
          <p:cNvPr id="444" name="Google Shape;444;p31"/>
          <p:cNvSpPr txBox="1"/>
          <p:nvPr/>
        </p:nvSpPr>
        <p:spPr>
          <a:xfrm>
            <a:off x="914400" y="5943600"/>
            <a:ext cx="10332720" cy="431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Before L07 — finish the L06 assignment (electricity demand + coffee shop).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 cap="flat" cmpd="sng">
            <a:solidFill>
              <a:srgbClr val="C810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8" name="Google Shape;758;p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9" name="Google Shape;759;p42"/>
          <p:cNvSpPr txBox="1"/>
          <p:nvPr/>
        </p:nvSpPr>
        <p:spPr>
          <a:xfrm>
            <a:off x="731520" y="201168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See You in L07</a:t>
            </a:r>
            <a:endParaRPr/>
          </a:p>
        </p:txBody>
      </p:sp>
      <p:sp>
        <p:nvSpPr>
          <p:cNvPr id="760" name="Google Shape;760;p42"/>
          <p:cNvSpPr txBox="1"/>
          <p:nvPr/>
        </p:nvSpPr>
        <p:spPr>
          <a:xfrm>
            <a:off x="731520" y="329184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Neural Networks &amp; Deep Learning — Perceptron → MLP → PyTorch</a:t>
            </a:r>
            <a:endParaRPr/>
          </a:p>
        </p:txBody>
      </p:sp>
      <p:sp>
        <p:nvSpPr>
          <p:cNvPr id="761" name="Google Shape;761;p42"/>
          <p:cNvSpPr txBox="1"/>
          <p:nvPr/>
        </p:nvSpPr>
        <p:spPr>
          <a:xfrm>
            <a:off x="731520" y="41148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Before then: finish the L06 assignment (electricity demand + coffee shop)</a:t>
            </a:r>
            <a:endParaRPr/>
          </a:p>
        </p:txBody>
      </p:sp>
      <p:sp>
        <p:nvSpPr>
          <p:cNvPr id="762" name="Google Shape;762;p42"/>
          <p:cNvSpPr txBox="1"/>
          <p:nvPr/>
        </p:nvSpPr>
        <p:spPr>
          <a:xfrm>
            <a:off x="731520" y="493776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Or dig deeper with ARIMA / SARIMA / Prophet in optional_extensions.ipynb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3265</Words>
  <Application>Microsoft Macintosh PowerPoint</Application>
  <PresentationFormat>Widescreen</PresentationFormat>
  <Paragraphs>481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Calibri</vt:lpstr>
      <vt:lpstr>Consolas</vt:lpstr>
      <vt:lpstr>Open Sans Light</vt:lpstr>
      <vt:lpstr>Open Sans</vt:lpstr>
      <vt:lpstr>Arial</vt:lpstr>
      <vt:lpstr>NTU SCTP</vt:lpstr>
      <vt:lpstr>PowerPoint Presentation</vt:lpstr>
      <vt:lpstr>3.5 Unsupervised Learning</vt:lpstr>
      <vt:lpstr>Module Overview</vt:lpstr>
      <vt:lpstr>PowerPoint Presentation</vt:lpstr>
      <vt:lpstr>PowerPoint Presentation</vt:lpstr>
      <vt:lpstr>PowerPoint Presentation</vt:lpstr>
      <vt:lpstr>PowerPoint Presentation</vt:lpstr>
      <vt:lpstr>So — how did Sarah do it? The methods, theory, and code behind the result — decomposition, classical baselines, then ML-with-lags.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Feng Feng</cp:lastModifiedBy>
  <cp:revision>1</cp:revision>
  <dcterms:modified xsi:type="dcterms:W3CDTF">2026-06-22T12:39:46Z</dcterms:modified>
</cp:coreProperties>
</file>